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1" r:id="rId24"/>
    <p:sldId id="259" r:id="rId4"/>
    <p:sldId id="260" r:id="rId5"/>
    <p:sldId id="261" r:id="rId6"/>
    <p:sldId id="262" r:id="rId7"/>
    <p:sldId id="272" r:id="rId25"/>
    <p:sldId id="276" r:id="rId29"/>
    <p:sldId id="273" r:id="rId26"/>
    <p:sldId id="274" r:id="rId27"/>
    <p:sldId id="275" r:id="rId28"/>
    <p:sldId id="269" r:id="rId8"/>
    <p:sldId id="270" r:id="rId9"/>
  </p:sldIdLst>
  <p:sldSz cx="18288000" cy="10287000"/>
  <p:notesSz cx="6858000" cy="9144000"/>
  <p:embeddedFontLst>
    <p:embeddedFont>
      <p:font typeface="Arial" panose="020B0604020202020204" pitchFamily="34" charset="0"/>
      <p:regular r:id="rId11"/>
    </p:embeddedFont>
    <p:embeddedFont>
      <p:font typeface="Arial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(MS)" panose="020B0604020202020204" charset="0"/>
      <p:regular r:id="rId17"/>
    </p:embeddedFont>
    <p:embeddedFont>
      <p:font typeface="Calibri (MS) Bold" panose="020B0604020202020204" charset="0"/>
      <p:regular r:id="rId18"/>
    </p:embeddedFont>
    <p:embeddedFont>
      <p:font typeface="Work Sa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  <Relationship Id="rId24" Type="http://schemas.openxmlformats.org/officeDocument/2006/relationships/slide" Target="slides/slide9.xml"/>
  <Relationship Id="rId25" Type="http://schemas.openxmlformats.org/officeDocument/2006/relationships/slide" Target="slides/slide10.xml"/>
  <Relationship Id="rId26" Type="http://schemas.openxmlformats.org/officeDocument/2006/relationships/slide" Target="slides/slide11.xml"/>
  <Relationship Id="rId27" Type="http://schemas.openxmlformats.org/officeDocument/2006/relationships/slide" Target="slides/slide12.xml"/>
  <Relationship Id="rId28" Type="http://schemas.openxmlformats.org/officeDocument/2006/relationships/slide" Target="slides/slide13.xml"/>
  <Relationship Id="rId29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Objetivos del proyecto LA ECONOMIA</a:t>
            </a:r>
          </a:p>
          <a:p>
            <a:r>
              <a:rPr lang="en-US"/>
              <a:t>Objetivo general y cinco objetivos específicos derivados del documento técnico.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24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11.png"/><Relationship Id="rId5" Type="http://schemas.openxmlformats.org/officeDocument/2006/relationships/image" Target="../media/image21.pn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4.jpeg"/><Relationship Id="rId9" Type="http://schemas.openxmlformats.org/officeDocument/2006/relationships/image" Target="../media/image18.png"/></Relationships>
</file>

<file path=ppt/slides/_rels/slide5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4.jpe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4.jpe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4.jpe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4.jpeg"/><Relationship Id="rId20" Type="http://schemas.openxmlformats.org/officeDocument/2006/relationships/image" Target="../media/image25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4.jpeg"/><Relationship Id="rId20" Type="http://schemas.openxmlformats.org/officeDocument/2006/relationships/image" Target="../media/image26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4.jpeg"/><Relationship Id="rId20" Type="http://schemas.openxmlformats.org/officeDocument/2006/relationships/image" Target="../media/image27.png"/></Relationships>
</file>

<file path=ppt/slides/_rels/slide14.xml.rels><?xml version="1.0" encoding="UTF-8" standalone="yes"?>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10" Type="http://schemas.openxmlformats.org/officeDocument/2006/relationships/image" Target="../media/image16.png"/><Relationship Id="rId4" Type="http://schemas.openxmlformats.org/officeDocument/2006/relationships/image" Target="../media/image4.jpe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311361" y="1582817"/>
            <a:ext cx="1384668" cy="1363142"/>
            <a:chOff x="0" y="0"/>
            <a:chExt cx="1846224" cy="18175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46199" cy="1817497"/>
            </a:xfrm>
            <a:custGeom>
              <a:avLst/>
              <a:gdLst/>
              <a:ahLst/>
              <a:cxnLst/>
              <a:rect l="l" t="t" r="r" b="b"/>
              <a:pathLst>
                <a:path w="1846199" h="1817497">
                  <a:moveTo>
                    <a:pt x="0" y="0"/>
                  </a:moveTo>
                  <a:lnTo>
                    <a:pt x="1846199" y="0"/>
                  </a:lnTo>
                  <a:lnTo>
                    <a:pt x="1846199" y="1817497"/>
                  </a:lnTo>
                  <a:lnTo>
                    <a:pt x="0" y="1817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44" r="-344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386350" y="3063240"/>
            <a:ext cx="14189863" cy="19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9"/>
              </a:lnSpc>
            </a:pPr>
            <a:r>
              <a:rPr lang="es-CO" sz="5727" b="1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Sistema de Gestión</a:t>
            </a:r>
          </a:p>
          <a:p>
            <a:pPr algn="l">
              <a:lnSpc>
                <a:spcPts val="6869"/>
              </a:lnSpc>
            </a:pPr>
            <a:r>
              <a:rPr lang="es-CO" sz="5727" b="1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de Inventario y Ventas</a:t>
            </a:r>
          </a:p>
          <a:p>
            <a:pPr algn="l">
              <a:lnSpc>
                <a:spcPts val="4000"/>
              </a:lnSpc>
              <a:spcBef>
                <a:spcPts val="1400"/>
              </a:spcBef>
            </a:pPr>
            <a:r>
              <a:rPr lang="es-CO" sz="3000" b="0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Documento técnico integrado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7826" y="426244"/>
            <a:ext cx="4242587" cy="249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s-CO" sz="1500" b="1">
                <a:solidFill>
                  <a:srgbClr val="4D4D4C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Clasificación de la información: Pública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0744" y="5943600"/>
            <a:ext cx="12801600" cy="128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lang="es-C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Juan Sebastián Polania Reyes – Aprendiz</a:t>
            </a:r>
          </a:p>
          <a:p>
            <a:pPr algn="l">
              <a:lnSpc>
                <a:spcPts val="2483"/>
              </a:lnSpc>
            </a:pPr>
            <a:r>
              <a:rPr lang="es-C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Cristian David Mayorga – Aprendiz</a:t>
            </a:r>
          </a:p>
          <a:p>
            <a:pPr algn="l">
              <a:lnSpc>
                <a:spcPts val="2483"/>
              </a:lnSpc>
            </a:pPr>
            <a:r>
              <a:rPr lang="es-C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Instructor: Andrés Eduardo Chaves</a:t>
            </a:r>
          </a:p>
          <a:p>
            <a:pPr algn="l">
              <a:lnSpc>
                <a:spcPts val="2483"/>
              </a:lnSpc>
            </a:pPr>
            <a:r>
              <a:rPr lang="es-C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Ficha 3288046  ·  Centro de Manufactura Textil y Cuero  ·  Septiembre de 2026</a:t>
            </a:r>
          </a:p>
        </p:txBody>
      </p:sp>
      <p:pic>
        <p:nvPicPr>
          <p:cNvPr id="901" name="Logo LA ECONOMIA" descr="Logo de LA ECONOMIA: texto blanco sobre fondo roj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744" y="1371600"/>
            <a:ext cx="5157216" cy="13624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1520" y="1179576"/>
            <a:ext cx="16184699" cy="1165950"/>
            <a:chOff x="0" y="0"/>
            <a:chExt cx="21579599" cy="1554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79601" cy="1554606"/>
            </a:xfrm>
            <a:custGeom>
              <a:avLst/>
              <a:gdLst/>
              <a:ahLst/>
              <a:cxnLst/>
              <a:rect l="l" t="t" r="r" b="b"/>
              <a:pathLst>
                <a:path w="21579601" h="1554606">
                  <a:moveTo>
                    <a:pt x="0" y="0"/>
                  </a:moveTo>
                  <a:lnTo>
                    <a:pt x="21579601" y="0"/>
                  </a:lnTo>
                  <a:lnTo>
                    <a:pt x="21579601" y="1554606"/>
                  </a:lnTo>
                  <a:lnTo>
                    <a:pt x="0" y="15546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473" b="-220472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1579599" cy="1554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¿Qué es LA ECONOMIA?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1520" y="2592324"/>
            <a:ext cx="8915400" cy="1581506"/>
            <a:chOff x="0" y="0"/>
            <a:chExt cx="11887200" cy="21086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87200" cy="2108668"/>
            </a:xfrm>
            <a:custGeom>
              <a:avLst/>
              <a:gdLst/>
              <a:ahLst/>
              <a:cxnLst/>
              <a:rect l="l" t="t" r="r" b="b"/>
              <a:pathLst>
                <a:path w="11887200" h="2108668">
                  <a:moveTo>
                    <a:pt x="0" y="0"/>
                  </a:moveTo>
                  <a:lnTo>
                    <a:pt x="11887200" y="0"/>
                  </a:lnTo>
                  <a:lnTo>
                    <a:pt x="11887200" y="2108668"/>
                  </a:lnTo>
                  <a:lnTo>
                    <a:pt x="0" y="21086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9977" b="-59708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11887200" cy="2194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1"/>
                </a:lnSpc>
              </a:pPr>
              <a:r>
                <a:rPr lang="es-CO" sz="2175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Sistema de información para la gestión de ventas en línea del supermercado “La Economía”, adaptable a cualquier tipo de tienda. Automatiza el control de inventarios, ventas y reportes para mejorar la eficiencia operativa.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1520" y="4238244"/>
            <a:ext cx="6858000" cy="480146"/>
            <a:chOff x="0" y="0"/>
            <a:chExt cx="9144000" cy="6401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640200"/>
            </a:xfrm>
            <a:custGeom>
              <a:avLst/>
              <a:gdLst/>
              <a:ahLst/>
              <a:cxnLst/>
              <a:rect l="l" t="t" r="r" b="b"/>
              <a:pathLst>
                <a:path w="9144000" h="640200">
                  <a:moveTo>
                    <a:pt x="0" y="0"/>
                  </a:moveTo>
                  <a:lnTo>
                    <a:pt x="9144000" y="0"/>
                  </a:lnTo>
                  <a:lnTo>
                    <a:pt x="91440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8305" b="-22830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144000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s-CO" sz="21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sistema permite: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1520" y="4855464"/>
            <a:ext cx="521103" cy="521103"/>
            <a:chOff x="0" y="0"/>
            <a:chExt cx="694804" cy="6948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4817" cy="694817"/>
            </a:xfrm>
            <a:custGeom>
              <a:avLst/>
              <a:gdLst/>
              <a:ahLst/>
              <a:cxnLst/>
              <a:rect l="l" t="t" r="r" b="b"/>
              <a:pathLst>
                <a:path w="694817" h="694817">
                  <a:moveTo>
                    <a:pt x="0" y="347345"/>
                  </a:moveTo>
                  <a:cubicBezTo>
                    <a:pt x="0" y="155575"/>
                    <a:pt x="155575" y="0"/>
                    <a:pt x="347345" y="0"/>
                  </a:cubicBezTo>
                  <a:cubicBezTo>
                    <a:pt x="539115" y="0"/>
                    <a:pt x="694817" y="155575"/>
                    <a:pt x="694817" y="347345"/>
                  </a:cubicBezTo>
                  <a:cubicBezTo>
                    <a:pt x="694817" y="539115"/>
                    <a:pt x="539242" y="694817"/>
                    <a:pt x="347345" y="694817"/>
                  </a:cubicBezTo>
                  <a:cubicBezTo>
                    <a:pt x="155448" y="694817"/>
                    <a:pt x="0" y="539242"/>
                    <a:pt x="0" y="34734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47033" y="4990976"/>
            <a:ext cx="250184" cy="250184"/>
            <a:chOff x="0" y="0"/>
            <a:chExt cx="333578" cy="333578"/>
          </a:xfrm>
        </p:grpSpPr>
        <p:sp>
          <p:nvSpPr>
            <p:cNvPr id="15" name="Freeform 15" descr="icons/window.png"/>
            <p:cNvSpPr/>
            <p:nvPr/>
          </p:nvSpPr>
          <p:spPr>
            <a:xfrm>
              <a:off x="0" y="0"/>
              <a:ext cx="333629" cy="333629"/>
            </a:xfrm>
            <a:custGeom>
              <a:avLst/>
              <a:gdLst/>
              <a:ahLst/>
              <a:cxnLst/>
              <a:rect l="l" t="t" r="r" b="b"/>
              <a:pathLst>
                <a:path w="333629" h="333629">
                  <a:moveTo>
                    <a:pt x="0" y="0"/>
                  </a:moveTo>
                  <a:lnTo>
                    <a:pt x="333629" y="0"/>
                  </a:lnTo>
                  <a:lnTo>
                    <a:pt x="333629" y="333629"/>
                  </a:lnTo>
                  <a:lnTo>
                    <a:pt x="0" y="333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5" b="1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565900" y="4814316"/>
            <a:ext cx="7955099" cy="603450"/>
            <a:chOff x="0" y="0"/>
            <a:chExt cx="10606799" cy="804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06800" cy="804604"/>
            </a:xfrm>
            <a:custGeom>
              <a:avLst/>
              <a:gdLst/>
              <a:ahLst/>
              <a:cxnLst/>
              <a:rect l="l" t="t" r="r" b="b"/>
              <a:pathLst>
                <a:path w="10606800" h="804604">
                  <a:moveTo>
                    <a:pt x="0" y="0"/>
                  </a:moveTo>
                  <a:lnTo>
                    <a:pt x="10606800" y="0"/>
                  </a:lnTo>
                  <a:lnTo>
                    <a:pt x="10606800" y="804604"/>
                  </a:lnTo>
                  <a:lnTo>
                    <a:pt x="0" y="804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6864" b="-20686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606799" cy="84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s-CO" sz="1875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Organizar productos y alertar los agotados o por vencer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1520" y="5623560"/>
            <a:ext cx="521103" cy="521103"/>
            <a:chOff x="0" y="0"/>
            <a:chExt cx="694804" cy="6948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4817" cy="694817"/>
            </a:xfrm>
            <a:custGeom>
              <a:avLst/>
              <a:gdLst/>
              <a:ahLst/>
              <a:cxnLst/>
              <a:rect l="l" t="t" r="r" b="b"/>
              <a:pathLst>
                <a:path w="694817" h="694817">
                  <a:moveTo>
                    <a:pt x="0" y="347345"/>
                  </a:moveTo>
                  <a:cubicBezTo>
                    <a:pt x="0" y="155575"/>
                    <a:pt x="155575" y="0"/>
                    <a:pt x="347345" y="0"/>
                  </a:cubicBezTo>
                  <a:cubicBezTo>
                    <a:pt x="539115" y="0"/>
                    <a:pt x="694817" y="155575"/>
                    <a:pt x="694817" y="347345"/>
                  </a:cubicBezTo>
                  <a:cubicBezTo>
                    <a:pt x="694817" y="539115"/>
                    <a:pt x="539242" y="694817"/>
                    <a:pt x="347345" y="694817"/>
                  </a:cubicBezTo>
                  <a:cubicBezTo>
                    <a:pt x="155448" y="694817"/>
                    <a:pt x="0" y="539242"/>
                    <a:pt x="0" y="34734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47033" y="5759072"/>
            <a:ext cx="250184" cy="250184"/>
            <a:chOff x="0" y="0"/>
            <a:chExt cx="333578" cy="333578"/>
          </a:xfrm>
        </p:grpSpPr>
        <p:sp>
          <p:nvSpPr>
            <p:cNvPr id="22" name="Freeform 22" descr="icons/filter.png"/>
            <p:cNvSpPr/>
            <p:nvPr/>
          </p:nvSpPr>
          <p:spPr>
            <a:xfrm>
              <a:off x="0" y="0"/>
              <a:ext cx="333629" cy="333629"/>
            </a:xfrm>
            <a:custGeom>
              <a:avLst/>
              <a:gdLst/>
              <a:ahLst/>
              <a:cxnLst/>
              <a:rect l="l" t="t" r="r" b="b"/>
              <a:pathLst>
                <a:path w="333629" h="333629">
                  <a:moveTo>
                    <a:pt x="0" y="0"/>
                  </a:moveTo>
                  <a:lnTo>
                    <a:pt x="333629" y="0"/>
                  </a:lnTo>
                  <a:lnTo>
                    <a:pt x="333629" y="333629"/>
                  </a:lnTo>
                  <a:lnTo>
                    <a:pt x="0" y="333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5" b="15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565900" y="5582412"/>
            <a:ext cx="7955099" cy="603450"/>
            <a:chOff x="0" y="0"/>
            <a:chExt cx="10606799" cy="804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06800" cy="804604"/>
            </a:xfrm>
            <a:custGeom>
              <a:avLst/>
              <a:gdLst/>
              <a:ahLst/>
              <a:cxnLst/>
              <a:rect l="l" t="t" r="r" b="b"/>
              <a:pathLst>
                <a:path w="10606800" h="804604">
                  <a:moveTo>
                    <a:pt x="0" y="0"/>
                  </a:moveTo>
                  <a:lnTo>
                    <a:pt x="10606800" y="0"/>
                  </a:lnTo>
                  <a:lnTo>
                    <a:pt x="10606800" y="804604"/>
                  </a:lnTo>
                  <a:lnTo>
                    <a:pt x="0" y="804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6864" b="-20686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606799" cy="84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s-CO" sz="1875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Registrar ventas, generar facturas en PDF y reportes de ventas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1520" y="6428232"/>
            <a:ext cx="521103" cy="521103"/>
            <a:chOff x="0" y="0"/>
            <a:chExt cx="694804" cy="6948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4817" cy="694817"/>
            </a:xfrm>
            <a:custGeom>
              <a:avLst/>
              <a:gdLst/>
              <a:ahLst/>
              <a:cxnLst/>
              <a:rect l="l" t="t" r="r" b="b"/>
              <a:pathLst>
                <a:path w="694817" h="694817">
                  <a:moveTo>
                    <a:pt x="0" y="347345"/>
                  </a:moveTo>
                  <a:cubicBezTo>
                    <a:pt x="0" y="155575"/>
                    <a:pt x="155575" y="0"/>
                    <a:pt x="347345" y="0"/>
                  </a:cubicBezTo>
                  <a:cubicBezTo>
                    <a:pt x="539115" y="0"/>
                    <a:pt x="694817" y="155575"/>
                    <a:pt x="694817" y="347345"/>
                  </a:cubicBezTo>
                  <a:cubicBezTo>
                    <a:pt x="694817" y="539115"/>
                    <a:pt x="539242" y="694817"/>
                    <a:pt x="347345" y="694817"/>
                  </a:cubicBezTo>
                  <a:cubicBezTo>
                    <a:pt x="155448" y="694817"/>
                    <a:pt x="0" y="539242"/>
                    <a:pt x="0" y="34734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47033" y="6563744"/>
            <a:ext cx="250184" cy="250184"/>
            <a:chOff x="0" y="0"/>
            <a:chExt cx="333578" cy="333578"/>
          </a:xfrm>
        </p:grpSpPr>
        <p:sp>
          <p:nvSpPr>
            <p:cNvPr id="29" name="Freeform 29" descr="icons/cart.png"/>
            <p:cNvSpPr/>
            <p:nvPr/>
          </p:nvSpPr>
          <p:spPr>
            <a:xfrm>
              <a:off x="0" y="0"/>
              <a:ext cx="333629" cy="333629"/>
            </a:xfrm>
            <a:custGeom>
              <a:avLst/>
              <a:gdLst/>
              <a:ahLst/>
              <a:cxnLst/>
              <a:rect l="l" t="t" r="r" b="b"/>
              <a:pathLst>
                <a:path w="333629" h="333629">
                  <a:moveTo>
                    <a:pt x="0" y="0"/>
                  </a:moveTo>
                  <a:lnTo>
                    <a:pt x="333629" y="0"/>
                  </a:lnTo>
                  <a:lnTo>
                    <a:pt x="333629" y="333629"/>
                  </a:lnTo>
                  <a:lnTo>
                    <a:pt x="0" y="333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5" b="15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565900" y="6387084"/>
            <a:ext cx="7955099" cy="603450"/>
            <a:chOff x="0" y="0"/>
            <a:chExt cx="10606799" cy="804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606800" cy="804604"/>
            </a:xfrm>
            <a:custGeom>
              <a:avLst/>
              <a:gdLst/>
              <a:ahLst/>
              <a:cxnLst/>
              <a:rect l="l" t="t" r="r" b="b"/>
              <a:pathLst>
                <a:path w="10606800" h="804604">
                  <a:moveTo>
                    <a:pt x="0" y="0"/>
                  </a:moveTo>
                  <a:lnTo>
                    <a:pt x="10606800" y="0"/>
                  </a:lnTo>
                  <a:lnTo>
                    <a:pt x="10606800" y="804604"/>
                  </a:lnTo>
                  <a:lnTo>
                    <a:pt x="0" y="804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6864" b="-20686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0606799" cy="84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s-CO" sz="1875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Comprar en línea con carrito, pedido y entrega a domicilio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194173" y="2239930"/>
            <a:ext cx="7132501" cy="6926399"/>
            <a:chOff x="0" y="0"/>
            <a:chExt cx="9510001" cy="923519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510014" cy="9235186"/>
            </a:xfrm>
            <a:custGeom>
              <a:avLst/>
              <a:gdLst/>
              <a:ahLst/>
              <a:cxnLst/>
              <a:rect l="l" t="t" r="r" b="b"/>
              <a:pathLst>
                <a:path w="9510014" h="923518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363710" y="0"/>
                  </a:lnTo>
                  <a:cubicBezTo>
                    <a:pt x="9444482" y="0"/>
                    <a:pt x="9510014" y="65532"/>
                    <a:pt x="9510014" y="146304"/>
                  </a:cubicBezTo>
                  <a:lnTo>
                    <a:pt x="9510014" y="9088882"/>
                  </a:lnTo>
                  <a:cubicBezTo>
                    <a:pt x="9510014" y="9169653"/>
                    <a:pt x="9444482" y="9235186"/>
                    <a:pt x="9363710" y="9235186"/>
                  </a:cubicBezTo>
                  <a:lnTo>
                    <a:pt x="146304" y="9235186"/>
                  </a:lnTo>
                  <a:cubicBezTo>
                    <a:pt x="65532" y="9235186"/>
                    <a:pt x="0" y="9169654"/>
                    <a:pt x="0" y="9088882"/>
                  </a:cubicBezTo>
                  <a:close/>
                </a:path>
              </a:pathLst>
            </a:custGeom>
            <a:solidFill>
              <a:srgbClr val="00304D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0824200" y="2935224"/>
            <a:ext cx="6172200" cy="480146"/>
            <a:chOff x="0" y="0"/>
            <a:chExt cx="8229600" cy="64019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229600" cy="640200"/>
            </a:xfrm>
            <a:custGeom>
              <a:avLst/>
              <a:gdLst/>
              <a:ahLst/>
              <a:cxnLst/>
              <a:rect l="l" t="t" r="r" b="b"/>
              <a:pathLst>
                <a:path w="8229600" h="640200">
                  <a:moveTo>
                    <a:pt x="0" y="0"/>
                  </a:moveTo>
                  <a:lnTo>
                    <a:pt x="8229600" y="0"/>
                  </a:lnTo>
                  <a:lnTo>
                    <a:pt x="82296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475" b="-200474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8229600" cy="6782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s-CO" sz="1800" b="1" dirty="0">
                  <a:solidFill>
                    <a:srgbClr val="FDC3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Y STACK DEL SISTEMA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824200" y="3621024"/>
            <a:ext cx="754199" cy="754199"/>
            <a:chOff x="0" y="0"/>
            <a:chExt cx="1005599" cy="100559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05586" cy="1005586"/>
            </a:xfrm>
            <a:custGeom>
              <a:avLst/>
              <a:gdLst/>
              <a:ahLst/>
              <a:cxnLst/>
              <a:rect l="l" t="t" r="r" b="b"/>
              <a:pathLst>
                <a:path w="1005586" h="1005586">
                  <a:moveTo>
                    <a:pt x="0" y="502793"/>
                  </a:moveTo>
                  <a:cubicBezTo>
                    <a:pt x="0" y="225171"/>
                    <a:pt x="225171" y="0"/>
                    <a:pt x="502793" y="0"/>
                  </a:cubicBezTo>
                  <a:cubicBezTo>
                    <a:pt x="780415" y="0"/>
                    <a:pt x="1005586" y="225171"/>
                    <a:pt x="1005586" y="502793"/>
                  </a:cubicBezTo>
                  <a:cubicBezTo>
                    <a:pt x="1005586" y="780415"/>
                    <a:pt x="780542" y="1005586"/>
                    <a:pt x="502793" y="1005586"/>
                  </a:cubicBezTo>
                  <a:cubicBezTo>
                    <a:pt x="225044" y="1005586"/>
                    <a:pt x="0" y="780542"/>
                    <a:pt x="0" y="502793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1020339" y="3817153"/>
            <a:ext cx="362102" cy="362102"/>
            <a:chOff x="0" y="0"/>
            <a:chExt cx="482803" cy="482803"/>
          </a:xfrm>
        </p:grpSpPr>
        <p:sp>
          <p:nvSpPr>
            <p:cNvPr id="41" name="Freeform 41" descr="icons/code.png"/>
            <p:cNvSpPr/>
            <p:nvPr/>
          </p:nvSpPr>
          <p:spPr>
            <a:xfrm>
              <a:off x="0" y="0"/>
              <a:ext cx="482854" cy="482854"/>
            </a:xfrm>
            <a:custGeom>
              <a:avLst/>
              <a:gdLst/>
              <a:ahLst/>
              <a:cxnLst/>
              <a:rect l="l" t="t" r="r" b="b"/>
              <a:pathLst>
                <a:path w="482854" h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10" b="10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1852900" y="3621024"/>
            <a:ext cx="5349154" cy="411299"/>
            <a:chOff x="0" y="0"/>
            <a:chExt cx="7132206" cy="54839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132200" cy="548400"/>
            </a:xfrm>
            <a:custGeom>
              <a:avLst/>
              <a:gdLst/>
              <a:ahLst/>
              <a:cxnLst/>
              <a:rect l="l" t="t" r="r" b="b"/>
              <a:pathLst>
                <a:path w="7132200" h="548400">
                  <a:moveTo>
                    <a:pt x="0" y="0"/>
                  </a:moveTo>
                  <a:lnTo>
                    <a:pt x="7132200" y="0"/>
                  </a:lnTo>
                  <a:lnTo>
                    <a:pt x="71322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3412" b="-20341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7132206" cy="596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852900" y="4018788"/>
            <a:ext cx="5349154" cy="411300"/>
            <a:chOff x="0" y="0"/>
            <a:chExt cx="7132206" cy="548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132200" cy="548401"/>
            </a:xfrm>
            <a:custGeom>
              <a:avLst/>
              <a:gdLst/>
              <a:ahLst/>
              <a:cxnLst/>
              <a:rect l="l" t="t" r="r" b="b"/>
              <a:pathLst>
                <a:path w="7132200" h="548401">
                  <a:moveTo>
                    <a:pt x="0" y="0"/>
                  </a:moveTo>
                  <a:lnTo>
                    <a:pt x="7132200" y="0"/>
                  </a:lnTo>
                  <a:lnTo>
                    <a:pt x="7132200" y="548401"/>
                  </a:lnTo>
                  <a:lnTo>
                    <a:pt x="0" y="5484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3411" b="-20341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7132206" cy="576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s-CO" sz="1650">
                  <a:solidFill>
                    <a:srgbClr val="B9CB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 - CSS - JavaScript (diseño responsivo)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824200" y="4800590"/>
            <a:ext cx="754199" cy="754199"/>
            <a:chOff x="0" y="0"/>
            <a:chExt cx="1005599" cy="100559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05586" cy="1005586"/>
            </a:xfrm>
            <a:custGeom>
              <a:avLst/>
              <a:gdLst/>
              <a:ahLst/>
              <a:cxnLst/>
              <a:rect l="l" t="t" r="r" b="b"/>
              <a:pathLst>
                <a:path w="1005586" h="1005586">
                  <a:moveTo>
                    <a:pt x="0" y="502793"/>
                  </a:moveTo>
                  <a:cubicBezTo>
                    <a:pt x="0" y="225171"/>
                    <a:pt x="225171" y="0"/>
                    <a:pt x="502793" y="0"/>
                  </a:cubicBezTo>
                  <a:cubicBezTo>
                    <a:pt x="780415" y="0"/>
                    <a:pt x="1005586" y="225171"/>
                    <a:pt x="1005586" y="502793"/>
                  </a:cubicBezTo>
                  <a:cubicBezTo>
                    <a:pt x="1005586" y="780415"/>
                    <a:pt x="780542" y="1005586"/>
                    <a:pt x="502793" y="1005586"/>
                  </a:cubicBezTo>
                  <a:cubicBezTo>
                    <a:pt x="225044" y="1005586"/>
                    <a:pt x="0" y="780542"/>
                    <a:pt x="0" y="502793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1020339" y="4996729"/>
            <a:ext cx="362102" cy="362102"/>
            <a:chOff x="0" y="0"/>
            <a:chExt cx="482803" cy="482803"/>
          </a:xfrm>
        </p:grpSpPr>
        <p:sp>
          <p:nvSpPr>
            <p:cNvPr id="51" name="Freeform 51" descr="icons/server.png"/>
            <p:cNvSpPr/>
            <p:nvPr/>
          </p:nvSpPr>
          <p:spPr>
            <a:xfrm>
              <a:off x="0" y="0"/>
              <a:ext cx="482854" cy="482854"/>
            </a:xfrm>
            <a:custGeom>
              <a:avLst/>
              <a:gdLst/>
              <a:ahLst/>
              <a:cxnLst/>
              <a:rect l="l" t="t" r="r" b="b"/>
              <a:pathLst>
                <a:path w="482854" h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0" b="10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11852900" y="4800590"/>
            <a:ext cx="5349154" cy="411299"/>
            <a:chOff x="0" y="0"/>
            <a:chExt cx="7132206" cy="54839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132200" cy="548400"/>
            </a:xfrm>
            <a:custGeom>
              <a:avLst/>
              <a:gdLst/>
              <a:ahLst/>
              <a:cxnLst/>
              <a:rect l="l" t="t" r="r" b="b"/>
              <a:pathLst>
                <a:path w="7132200" h="548400">
                  <a:moveTo>
                    <a:pt x="0" y="0"/>
                  </a:moveTo>
                  <a:lnTo>
                    <a:pt x="7132200" y="0"/>
                  </a:lnTo>
                  <a:lnTo>
                    <a:pt x="71322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3412" b="-203412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7132206" cy="596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852900" y="5198364"/>
            <a:ext cx="5349154" cy="411300"/>
            <a:chOff x="0" y="0"/>
            <a:chExt cx="7132206" cy="5484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7132200" cy="548401"/>
            </a:xfrm>
            <a:custGeom>
              <a:avLst/>
              <a:gdLst/>
              <a:ahLst/>
              <a:cxnLst/>
              <a:rect l="l" t="t" r="r" b="b"/>
              <a:pathLst>
                <a:path w="7132200" h="548401">
                  <a:moveTo>
                    <a:pt x="0" y="0"/>
                  </a:moveTo>
                  <a:lnTo>
                    <a:pt x="7132200" y="0"/>
                  </a:lnTo>
                  <a:lnTo>
                    <a:pt x="7132200" y="548401"/>
                  </a:lnTo>
                  <a:lnTo>
                    <a:pt x="0" y="5484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3411" b="-203411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7132206" cy="576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s-CO" sz="1650">
                  <a:solidFill>
                    <a:srgbClr val="B9CB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C# .NET Core - Microservicios (patrón MVC)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824200" y="5980176"/>
            <a:ext cx="754199" cy="754199"/>
            <a:chOff x="0" y="0"/>
            <a:chExt cx="1005599" cy="100559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05586" cy="1005586"/>
            </a:xfrm>
            <a:custGeom>
              <a:avLst/>
              <a:gdLst/>
              <a:ahLst/>
              <a:cxnLst/>
              <a:rect l="l" t="t" r="r" b="b"/>
              <a:pathLst>
                <a:path w="1005586" h="1005586">
                  <a:moveTo>
                    <a:pt x="0" y="502793"/>
                  </a:moveTo>
                  <a:cubicBezTo>
                    <a:pt x="0" y="225171"/>
                    <a:pt x="225171" y="0"/>
                    <a:pt x="502793" y="0"/>
                  </a:cubicBezTo>
                  <a:cubicBezTo>
                    <a:pt x="780415" y="0"/>
                    <a:pt x="1005586" y="225171"/>
                    <a:pt x="1005586" y="502793"/>
                  </a:cubicBezTo>
                  <a:cubicBezTo>
                    <a:pt x="1005586" y="780415"/>
                    <a:pt x="780542" y="1005586"/>
                    <a:pt x="502793" y="1005586"/>
                  </a:cubicBezTo>
                  <a:cubicBezTo>
                    <a:pt x="225044" y="1005586"/>
                    <a:pt x="0" y="780542"/>
                    <a:pt x="0" y="502793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1020339" y="6176305"/>
            <a:ext cx="362102" cy="362102"/>
            <a:chOff x="0" y="0"/>
            <a:chExt cx="482803" cy="482803"/>
          </a:xfrm>
        </p:grpSpPr>
        <p:sp>
          <p:nvSpPr>
            <p:cNvPr id="61" name="Freeform 61" descr="icons/database.png"/>
            <p:cNvSpPr/>
            <p:nvPr/>
          </p:nvSpPr>
          <p:spPr>
            <a:xfrm>
              <a:off x="0" y="0"/>
              <a:ext cx="482854" cy="482854"/>
            </a:xfrm>
            <a:custGeom>
              <a:avLst/>
              <a:gdLst/>
              <a:ahLst/>
              <a:cxnLst/>
              <a:rect l="l" t="t" r="r" b="b"/>
              <a:pathLst>
                <a:path w="482854" h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10" b="10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11852900" y="5980176"/>
            <a:ext cx="5349154" cy="411299"/>
            <a:chOff x="0" y="0"/>
            <a:chExt cx="7132206" cy="54839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132200" cy="548400"/>
            </a:xfrm>
            <a:custGeom>
              <a:avLst/>
              <a:gdLst/>
              <a:ahLst/>
              <a:cxnLst/>
              <a:rect l="l" t="t" r="r" b="b"/>
              <a:pathLst>
                <a:path w="7132200" h="548400">
                  <a:moveTo>
                    <a:pt x="0" y="0"/>
                  </a:moveTo>
                  <a:lnTo>
                    <a:pt x="7132200" y="0"/>
                  </a:lnTo>
                  <a:lnTo>
                    <a:pt x="71322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3412" b="-203412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7132206" cy="596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de datos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852900" y="6377940"/>
            <a:ext cx="5349154" cy="411300"/>
            <a:chOff x="0" y="0"/>
            <a:chExt cx="7132206" cy="5484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132200" cy="548401"/>
            </a:xfrm>
            <a:custGeom>
              <a:avLst/>
              <a:gdLst/>
              <a:ahLst/>
              <a:cxnLst/>
              <a:rect l="l" t="t" r="r" b="b"/>
              <a:pathLst>
                <a:path w="7132200" h="548401">
                  <a:moveTo>
                    <a:pt x="0" y="0"/>
                  </a:moveTo>
                  <a:lnTo>
                    <a:pt x="7132200" y="0"/>
                  </a:lnTo>
                  <a:lnTo>
                    <a:pt x="7132200" y="548401"/>
                  </a:lnTo>
                  <a:lnTo>
                    <a:pt x="0" y="5484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3411" b="-203411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7132206" cy="576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s-CO" sz="1650">
                  <a:solidFill>
                    <a:srgbClr val="B9CB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Server - MySQL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824200" y="7159752"/>
            <a:ext cx="754199" cy="754199"/>
            <a:chOff x="0" y="0"/>
            <a:chExt cx="1005599" cy="1005599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05586" cy="1005586"/>
            </a:xfrm>
            <a:custGeom>
              <a:avLst/>
              <a:gdLst/>
              <a:ahLst/>
              <a:cxnLst/>
              <a:rect l="l" t="t" r="r" b="b"/>
              <a:pathLst>
                <a:path w="1005586" h="1005586">
                  <a:moveTo>
                    <a:pt x="0" y="502793"/>
                  </a:moveTo>
                  <a:cubicBezTo>
                    <a:pt x="0" y="225171"/>
                    <a:pt x="225171" y="0"/>
                    <a:pt x="502793" y="0"/>
                  </a:cubicBezTo>
                  <a:cubicBezTo>
                    <a:pt x="780415" y="0"/>
                    <a:pt x="1005586" y="225171"/>
                    <a:pt x="1005586" y="502793"/>
                  </a:cubicBezTo>
                  <a:cubicBezTo>
                    <a:pt x="1005586" y="780415"/>
                    <a:pt x="780542" y="1005586"/>
                    <a:pt x="502793" y="1005586"/>
                  </a:cubicBezTo>
                  <a:cubicBezTo>
                    <a:pt x="225044" y="1005586"/>
                    <a:pt x="0" y="780542"/>
                    <a:pt x="0" y="502793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11020339" y="7355881"/>
            <a:ext cx="362102" cy="362102"/>
            <a:chOff x="0" y="0"/>
            <a:chExt cx="482803" cy="482803"/>
          </a:xfrm>
        </p:grpSpPr>
        <p:sp>
          <p:nvSpPr>
            <p:cNvPr id="71" name="Freeform 71" descr="icons/cloud.png"/>
            <p:cNvSpPr/>
            <p:nvPr/>
          </p:nvSpPr>
          <p:spPr>
            <a:xfrm>
              <a:off x="0" y="0"/>
              <a:ext cx="482854" cy="482854"/>
            </a:xfrm>
            <a:custGeom>
              <a:avLst/>
              <a:gdLst/>
              <a:ahLst/>
              <a:cxnLst/>
              <a:rect l="l" t="t" r="r" b="b"/>
              <a:pathLst>
                <a:path w="482854" h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10" b="10"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11852900" y="7159752"/>
            <a:ext cx="5349154" cy="411299"/>
            <a:chOff x="0" y="0"/>
            <a:chExt cx="7132206" cy="54839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132200" cy="548400"/>
            </a:xfrm>
            <a:custGeom>
              <a:avLst/>
              <a:gdLst/>
              <a:ahLst/>
              <a:cxnLst/>
              <a:rect l="l" t="t" r="r" b="b"/>
              <a:pathLst>
                <a:path w="7132200" h="548400">
                  <a:moveTo>
                    <a:pt x="0" y="0"/>
                  </a:moveTo>
                  <a:lnTo>
                    <a:pt x="7132200" y="0"/>
                  </a:lnTo>
                  <a:lnTo>
                    <a:pt x="71322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3412" b="-203412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47625"/>
              <a:ext cx="7132206" cy="596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 dirty="0" err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Infraestructura</a:t>
              </a:r>
              <a:endParaRPr lang="es-CO" sz="195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1852900" y="7557516"/>
            <a:ext cx="5349154" cy="411300"/>
            <a:chOff x="0" y="0"/>
            <a:chExt cx="7132206" cy="5484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132200" cy="548401"/>
            </a:xfrm>
            <a:custGeom>
              <a:avLst/>
              <a:gdLst/>
              <a:ahLst/>
              <a:cxnLst/>
              <a:rect l="l" t="t" r="r" b="b"/>
              <a:pathLst>
                <a:path w="7132200" h="548401">
                  <a:moveTo>
                    <a:pt x="0" y="0"/>
                  </a:moveTo>
                  <a:lnTo>
                    <a:pt x="7132200" y="0"/>
                  </a:lnTo>
                  <a:lnTo>
                    <a:pt x="7132200" y="548401"/>
                  </a:lnTo>
                  <a:lnTo>
                    <a:pt x="0" y="5484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3411" b="-203411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28575"/>
              <a:ext cx="7132206" cy="576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s-CO" sz="1650">
                  <a:solidFill>
                    <a:srgbClr val="B9CB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Gateway - Docker - Kubernetes - Redis - Cloud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1520" y="987552"/>
            <a:ext cx="16184699" cy="1165946"/>
            <a:chOff x="0" y="0"/>
            <a:chExt cx="21579599" cy="15545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474" b="-220474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Planteamiento del problema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1520" y="2468880"/>
            <a:ext cx="7681046" cy="6720754"/>
            <a:chOff x="0" y="0"/>
            <a:chExt cx="10241394" cy="89610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41407" cy="8960993"/>
            </a:xfrm>
            <a:custGeom>
              <a:avLst/>
              <a:gdLst/>
              <a:ahLst/>
              <a:cxnLst/>
              <a:rect l="l" t="t" r="r" b="b"/>
              <a:pathLst>
                <a:path w="10241407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5103" y="0"/>
                  </a:lnTo>
                  <a:cubicBezTo>
                    <a:pt x="10175875" y="0"/>
                    <a:pt x="10241407" y="65532"/>
                    <a:pt x="10241407" y="146304"/>
                  </a:cubicBezTo>
                  <a:lnTo>
                    <a:pt x="10241407" y="8814689"/>
                  </a:lnTo>
                  <a:cubicBezTo>
                    <a:pt x="10241407" y="8895461"/>
                    <a:pt x="10175875" y="8960993"/>
                    <a:pt x="10095103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91580" y="2811780"/>
            <a:ext cx="6858000" cy="548554"/>
            <a:chOff x="0" y="0"/>
            <a:chExt cx="9144000" cy="7314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731400"/>
            </a:xfrm>
            <a:custGeom>
              <a:avLst/>
              <a:gdLst/>
              <a:ahLst/>
              <a:cxnLst/>
              <a:rect l="l" t="t" r="r" b="b"/>
              <a:pathLst>
                <a:path w="9144000" h="731400">
                  <a:moveTo>
                    <a:pt x="0" y="0"/>
                  </a:moveTo>
                  <a:lnTo>
                    <a:pt x="9144000" y="0"/>
                  </a:lnTo>
                  <a:lnTo>
                    <a:pt x="9144000" y="731400"/>
                  </a:lnTo>
                  <a:lnTo>
                    <a:pt x="0" y="731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3602" b="-1936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144000" cy="7695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s-CO" sz="24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manual de inventario y ventas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91580" y="3497580"/>
            <a:ext cx="438750" cy="438750"/>
            <a:chOff x="0" y="0"/>
            <a:chExt cx="585000" cy="585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4962" cy="584962"/>
            </a:xfrm>
            <a:custGeom>
              <a:avLst/>
              <a:gdLst/>
              <a:ahLst/>
              <a:cxnLst/>
              <a:rect l="l" t="t" r="r" b="b"/>
              <a:pathLst>
                <a:path w="584962" h="584962">
                  <a:moveTo>
                    <a:pt x="0" y="292481"/>
                  </a:moveTo>
                  <a:cubicBezTo>
                    <a:pt x="0" y="130937"/>
                    <a:pt x="130937" y="0"/>
                    <a:pt x="292481" y="0"/>
                  </a:cubicBezTo>
                  <a:cubicBezTo>
                    <a:pt x="454025" y="0"/>
                    <a:pt x="584962" y="130937"/>
                    <a:pt x="584962" y="292481"/>
                  </a:cubicBezTo>
                  <a:cubicBezTo>
                    <a:pt x="584962" y="454025"/>
                    <a:pt x="454025" y="584962"/>
                    <a:pt x="292481" y="584962"/>
                  </a:cubicBezTo>
                  <a:cubicBezTo>
                    <a:pt x="130937" y="584962"/>
                    <a:pt x="0" y="454025"/>
                    <a:pt x="0" y="292481"/>
                  </a:cubicBezTo>
                  <a:close/>
                </a:path>
              </a:pathLst>
            </a:custGeom>
            <a:solidFill>
              <a:srgbClr val="C74E3C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405700" y="3611699"/>
            <a:ext cx="210674" cy="210674"/>
            <a:chOff x="0" y="0"/>
            <a:chExt cx="280899" cy="280899"/>
          </a:xfrm>
        </p:grpSpPr>
        <p:sp>
          <p:nvSpPr>
            <p:cNvPr id="14" name="Freeform 14" descr="icons/warning.png"/>
            <p:cNvSpPr/>
            <p:nvPr/>
          </p:nvSpPr>
          <p:spPr>
            <a:xfrm>
              <a:off x="0" y="0"/>
              <a:ext cx="280924" cy="280924"/>
            </a:xfrm>
            <a:custGeom>
              <a:avLst/>
              <a:gdLst/>
              <a:ahLst/>
              <a:cxnLst/>
              <a:rect l="l" t="t" r="r" b="b"/>
              <a:pathLst>
                <a:path w="280924" h="280924">
                  <a:moveTo>
                    <a:pt x="0" y="0"/>
                  </a:moveTo>
                  <a:lnTo>
                    <a:pt x="280924" y="0"/>
                  </a:lnTo>
                  <a:lnTo>
                    <a:pt x="280924" y="280924"/>
                  </a:lnTo>
                  <a:lnTo>
                    <a:pt x="0" y="280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9" b="9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936232" y="3442716"/>
            <a:ext cx="6377854" cy="685800"/>
            <a:chOff x="0" y="0"/>
            <a:chExt cx="8503806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208" b="-13120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s-CO" sz="1725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Inventario y ventas registrados a mano en cuadernos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1580" y="4299966"/>
            <a:ext cx="438750" cy="438750"/>
            <a:chOff x="0" y="0"/>
            <a:chExt cx="585000" cy="585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84962" cy="584962"/>
            </a:xfrm>
            <a:custGeom>
              <a:avLst/>
              <a:gdLst/>
              <a:ahLst/>
              <a:cxnLst/>
              <a:rect l="l" t="t" r="r" b="b"/>
              <a:pathLst>
                <a:path w="584962" h="584962">
                  <a:moveTo>
                    <a:pt x="0" y="292481"/>
                  </a:moveTo>
                  <a:cubicBezTo>
                    <a:pt x="0" y="130937"/>
                    <a:pt x="130937" y="0"/>
                    <a:pt x="292481" y="0"/>
                  </a:cubicBezTo>
                  <a:cubicBezTo>
                    <a:pt x="454025" y="0"/>
                    <a:pt x="584962" y="130937"/>
                    <a:pt x="584962" y="292481"/>
                  </a:cubicBezTo>
                  <a:cubicBezTo>
                    <a:pt x="584962" y="454025"/>
                    <a:pt x="454025" y="584962"/>
                    <a:pt x="292481" y="584962"/>
                  </a:cubicBezTo>
                  <a:cubicBezTo>
                    <a:pt x="130937" y="584962"/>
                    <a:pt x="0" y="454025"/>
                    <a:pt x="0" y="292481"/>
                  </a:cubicBezTo>
                  <a:close/>
                </a:path>
              </a:pathLst>
            </a:custGeom>
            <a:solidFill>
              <a:srgbClr val="C74E3C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405700" y="4414085"/>
            <a:ext cx="210674" cy="210674"/>
            <a:chOff x="0" y="0"/>
            <a:chExt cx="280899" cy="280899"/>
          </a:xfrm>
        </p:grpSpPr>
        <p:sp>
          <p:nvSpPr>
            <p:cNvPr id="21" name="Freeform 21" descr="icons/warning.png"/>
            <p:cNvSpPr/>
            <p:nvPr/>
          </p:nvSpPr>
          <p:spPr>
            <a:xfrm>
              <a:off x="0" y="0"/>
              <a:ext cx="280924" cy="280924"/>
            </a:xfrm>
            <a:custGeom>
              <a:avLst/>
              <a:gdLst/>
              <a:ahLst/>
              <a:cxnLst/>
              <a:rect l="l" t="t" r="r" b="b"/>
              <a:pathLst>
                <a:path w="280924" h="280924">
                  <a:moveTo>
                    <a:pt x="0" y="0"/>
                  </a:moveTo>
                  <a:lnTo>
                    <a:pt x="280924" y="0"/>
                  </a:lnTo>
                  <a:lnTo>
                    <a:pt x="280924" y="280924"/>
                  </a:lnTo>
                  <a:lnTo>
                    <a:pt x="0" y="280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9" b="9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936232" y="4245102"/>
            <a:ext cx="6377854" cy="685800"/>
            <a:chOff x="0" y="0"/>
            <a:chExt cx="8503806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208" b="-13120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s-CO" sz="1725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Errores en el registro de productos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91580" y="5102352"/>
            <a:ext cx="438750" cy="438750"/>
            <a:chOff x="0" y="0"/>
            <a:chExt cx="585000" cy="585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84962" cy="584962"/>
            </a:xfrm>
            <a:custGeom>
              <a:avLst/>
              <a:gdLst/>
              <a:ahLst/>
              <a:cxnLst/>
              <a:rect l="l" t="t" r="r" b="b"/>
              <a:pathLst>
                <a:path w="584962" h="584962">
                  <a:moveTo>
                    <a:pt x="0" y="292481"/>
                  </a:moveTo>
                  <a:cubicBezTo>
                    <a:pt x="0" y="130937"/>
                    <a:pt x="130937" y="0"/>
                    <a:pt x="292481" y="0"/>
                  </a:cubicBezTo>
                  <a:cubicBezTo>
                    <a:pt x="454025" y="0"/>
                    <a:pt x="584962" y="130937"/>
                    <a:pt x="584962" y="292481"/>
                  </a:cubicBezTo>
                  <a:cubicBezTo>
                    <a:pt x="584962" y="454025"/>
                    <a:pt x="454025" y="584962"/>
                    <a:pt x="292481" y="584962"/>
                  </a:cubicBezTo>
                  <a:cubicBezTo>
                    <a:pt x="130937" y="584962"/>
                    <a:pt x="0" y="454025"/>
                    <a:pt x="0" y="292481"/>
                  </a:cubicBezTo>
                  <a:close/>
                </a:path>
              </a:pathLst>
            </a:custGeom>
            <a:solidFill>
              <a:srgbClr val="C74E3C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405700" y="5216471"/>
            <a:ext cx="210674" cy="210674"/>
            <a:chOff x="0" y="0"/>
            <a:chExt cx="280899" cy="280899"/>
          </a:xfrm>
        </p:grpSpPr>
        <p:sp>
          <p:nvSpPr>
            <p:cNvPr id="28" name="Freeform 28" descr="icons/warning.png"/>
            <p:cNvSpPr/>
            <p:nvPr/>
          </p:nvSpPr>
          <p:spPr>
            <a:xfrm>
              <a:off x="0" y="0"/>
              <a:ext cx="280924" cy="280924"/>
            </a:xfrm>
            <a:custGeom>
              <a:avLst/>
              <a:gdLst/>
              <a:ahLst/>
              <a:cxnLst/>
              <a:rect l="l" t="t" r="r" b="b"/>
              <a:pathLst>
                <a:path w="280924" h="280924">
                  <a:moveTo>
                    <a:pt x="0" y="0"/>
                  </a:moveTo>
                  <a:lnTo>
                    <a:pt x="280924" y="0"/>
                  </a:lnTo>
                  <a:lnTo>
                    <a:pt x="280924" y="280924"/>
                  </a:lnTo>
                  <a:lnTo>
                    <a:pt x="0" y="280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9" b="9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936232" y="5047488"/>
            <a:ext cx="6377854" cy="685800"/>
            <a:chOff x="0" y="0"/>
            <a:chExt cx="8503806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208" b="-13120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s-CO" sz="1725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Demoras en la atención al cliente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91580" y="5904738"/>
            <a:ext cx="438750" cy="438750"/>
            <a:chOff x="0" y="0"/>
            <a:chExt cx="585000" cy="585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84962" cy="584962"/>
            </a:xfrm>
            <a:custGeom>
              <a:avLst/>
              <a:gdLst/>
              <a:ahLst/>
              <a:cxnLst/>
              <a:rect l="l" t="t" r="r" b="b"/>
              <a:pathLst>
                <a:path w="584962" h="584962">
                  <a:moveTo>
                    <a:pt x="0" y="292481"/>
                  </a:moveTo>
                  <a:cubicBezTo>
                    <a:pt x="0" y="130937"/>
                    <a:pt x="130937" y="0"/>
                    <a:pt x="292481" y="0"/>
                  </a:cubicBezTo>
                  <a:cubicBezTo>
                    <a:pt x="454025" y="0"/>
                    <a:pt x="584962" y="130937"/>
                    <a:pt x="584962" y="292481"/>
                  </a:cubicBezTo>
                  <a:cubicBezTo>
                    <a:pt x="584962" y="454025"/>
                    <a:pt x="454025" y="584962"/>
                    <a:pt x="292481" y="584962"/>
                  </a:cubicBezTo>
                  <a:cubicBezTo>
                    <a:pt x="130937" y="584962"/>
                    <a:pt x="0" y="454025"/>
                    <a:pt x="0" y="292481"/>
                  </a:cubicBezTo>
                  <a:close/>
                </a:path>
              </a:pathLst>
            </a:custGeom>
            <a:solidFill>
              <a:srgbClr val="C74E3C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405700" y="6018857"/>
            <a:ext cx="210674" cy="210674"/>
            <a:chOff x="0" y="0"/>
            <a:chExt cx="280899" cy="280899"/>
          </a:xfrm>
        </p:grpSpPr>
        <p:sp>
          <p:nvSpPr>
            <p:cNvPr id="35" name="Freeform 35" descr="icons/warning.png"/>
            <p:cNvSpPr/>
            <p:nvPr/>
          </p:nvSpPr>
          <p:spPr>
            <a:xfrm>
              <a:off x="0" y="0"/>
              <a:ext cx="280924" cy="280924"/>
            </a:xfrm>
            <a:custGeom>
              <a:avLst/>
              <a:gdLst/>
              <a:ahLst/>
              <a:cxnLst/>
              <a:rect l="l" t="t" r="r" b="b"/>
              <a:pathLst>
                <a:path w="280924" h="280924">
                  <a:moveTo>
                    <a:pt x="0" y="0"/>
                  </a:moveTo>
                  <a:lnTo>
                    <a:pt x="280924" y="0"/>
                  </a:lnTo>
                  <a:lnTo>
                    <a:pt x="280924" y="280924"/>
                  </a:lnTo>
                  <a:lnTo>
                    <a:pt x="0" y="280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9" b="9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1936232" y="5849874"/>
            <a:ext cx="6377854" cy="685800"/>
            <a:chOff x="0" y="0"/>
            <a:chExt cx="8503806" cy="914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208" b="-13120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s-CO" sz="1725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Dificultad para conocer la disponibilidad real del inventario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91580" y="6707124"/>
            <a:ext cx="438750" cy="438750"/>
            <a:chOff x="0" y="0"/>
            <a:chExt cx="585000" cy="585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84962" cy="584962"/>
            </a:xfrm>
            <a:custGeom>
              <a:avLst/>
              <a:gdLst/>
              <a:ahLst/>
              <a:cxnLst/>
              <a:rect l="l" t="t" r="r" b="b"/>
              <a:pathLst>
                <a:path w="584962" h="584962">
                  <a:moveTo>
                    <a:pt x="0" y="292481"/>
                  </a:moveTo>
                  <a:cubicBezTo>
                    <a:pt x="0" y="130937"/>
                    <a:pt x="130937" y="0"/>
                    <a:pt x="292481" y="0"/>
                  </a:cubicBezTo>
                  <a:cubicBezTo>
                    <a:pt x="454025" y="0"/>
                    <a:pt x="584962" y="130937"/>
                    <a:pt x="584962" y="292481"/>
                  </a:cubicBezTo>
                  <a:cubicBezTo>
                    <a:pt x="584962" y="454025"/>
                    <a:pt x="454025" y="584962"/>
                    <a:pt x="292481" y="584962"/>
                  </a:cubicBezTo>
                  <a:cubicBezTo>
                    <a:pt x="130937" y="584962"/>
                    <a:pt x="0" y="454025"/>
                    <a:pt x="0" y="292481"/>
                  </a:cubicBezTo>
                  <a:close/>
                </a:path>
              </a:pathLst>
            </a:custGeom>
            <a:solidFill>
              <a:srgbClr val="C74E3C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405700" y="6821243"/>
            <a:ext cx="210674" cy="210674"/>
            <a:chOff x="0" y="0"/>
            <a:chExt cx="280899" cy="280899"/>
          </a:xfrm>
        </p:grpSpPr>
        <p:sp>
          <p:nvSpPr>
            <p:cNvPr id="42" name="Freeform 42" descr="icons/warning.png"/>
            <p:cNvSpPr/>
            <p:nvPr/>
          </p:nvSpPr>
          <p:spPr>
            <a:xfrm>
              <a:off x="0" y="0"/>
              <a:ext cx="280924" cy="280924"/>
            </a:xfrm>
            <a:custGeom>
              <a:avLst/>
              <a:gdLst/>
              <a:ahLst/>
              <a:cxnLst/>
              <a:rect l="l" t="t" r="r" b="b"/>
              <a:pathLst>
                <a:path w="280924" h="280924">
                  <a:moveTo>
                    <a:pt x="0" y="0"/>
                  </a:moveTo>
                  <a:lnTo>
                    <a:pt x="280924" y="0"/>
                  </a:lnTo>
                  <a:lnTo>
                    <a:pt x="280924" y="280924"/>
                  </a:lnTo>
                  <a:lnTo>
                    <a:pt x="0" y="280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9" b="9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936232" y="6652260"/>
            <a:ext cx="6377854" cy="685800"/>
            <a:chOff x="0" y="0"/>
            <a:chExt cx="8503806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208" b="-131208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s-CO" sz="1725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Pérdidas de productos y desorganización de la información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91580" y="7509510"/>
            <a:ext cx="438750" cy="438750"/>
            <a:chOff x="0" y="0"/>
            <a:chExt cx="585000" cy="585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84962" cy="584962"/>
            </a:xfrm>
            <a:custGeom>
              <a:avLst/>
              <a:gdLst/>
              <a:ahLst/>
              <a:cxnLst/>
              <a:rect l="l" t="t" r="r" b="b"/>
              <a:pathLst>
                <a:path w="584962" h="584962">
                  <a:moveTo>
                    <a:pt x="0" y="292481"/>
                  </a:moveTo>
                  <a:cubicBezTo>
                    <a:pt x="0" y="130937"/>
                    <a:pt x="130937" y="0"/>
                    <a:pt x="292481" y="0"/>
                  </a:cubicBezTo>
                  <a:cubicBezTo>
                    <a:pt x="454025" y="0"/>
                    <a:pt x="584962" y="130937"/>
                    <a:pt x="584962" y="292481"/>
                  </a:cubicBezTo>
                  <a:cubicBezTo>
                    <a:pt x="584962" y="454025"/>
                    <a:pt x="454025" y="584962"/>
                    <a:pt x="292481" y="584962"/>
                  </a:cubicBezTo>
                  <a:cubicBezTo>
                    <a:pt x="130937" y="584962"/>
                    <a:pt x="0" y="454025"/>
                    <a:pt x="0" y="292481"/>
                  </a:cubicBezTo>
                  <a:close/>
                </a:path>
              </a:pathLst>
            </a:custGeom>
            <a:solidFill>
              <a:srgbClr val="C74E3C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405700" y="7623629"/>
            <a:ext cx="210674" cy="210674"/>
            <a:chOff x="0" y="0"/>
            <a:chExt cx="280899" cy="280899"/>
          </a:xfrm>
        </p:grpSpPr>
        <p:sp>
          <p:nvSpPr>
            <p:cNvPr id="49" name="Freeform 49" descr="icons/warning.png"/>
            <p:cNvSpPr/>
            <p:nvPr/>
          </p:nvSpPr>
          <p:spPr>
            <a:xfrm>
              <a:off x="0" y="0"/>
              <a:ext cx="280924" cy="280924"/>
            </a:xfrm>
            <a:custGeom>
              <a:avLst/>
              <a:gdLst/>
              <a:ahLst/>
              <a:cxnLst/>
              <a:rect l="l" t="t" r="r" b="b"/>
              <a:pathLst>
                <a:path w="280924" h="280924">
                  <a:moveTo>
                    <a:pt x="0" y="0"/>
                  </a:moveTo>
                  <a:lnTo>
                    <a:pt x="280924" y="0"/>
                  </a:lnTo>
                  <a:lnTo>
                    <a:pt x="280924" y="280924"/>
                  </a:lnTo>
                  <a:lnTo>
                    <a:pt x="0" y="280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9" b="9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1936232" y="7454646"/>
            <a:ext cx="6377854" cy="685800"/>
            <a:chOff x="0" y="0"/>
            <a:chExt cx="8503806" cy="914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208" b="-131208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s-CO" sz="1725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 ventas en línea tras el impacto del COVID-19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903960" y="2468880"/>
            <a:ext cx="8572500" cy="6720754"/>
            <a:chOff x="0" y="0"/>
            <a:chExt cx="11430000" cy="896100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430000" cy="8960993"/>
            </a:xfrm>
            <a:custGeom>
              <a:avLst/>
              <a:gdLst/>
              <a:ahLst/>
              <a:cxnLst/>
              <a:rect l="l" t="t" r="r" b="b"/>
              <a:pathLst>
                <a:path w="11430000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283696" y="0"/>
                  </a:lnTo>
                  <a:cubicBezTo>
                    <a:pt x="11364468" y="0"/>
                    <a:pt x="11430000" y="65532"/>
                    <a:pt x="11430000" y="146304"/>
                  </a:cubicBezTo>
                  <a:lnTo>
                    <a:pt x="11430000" y="8814689"/>
                  </a:lnTo>
                  <a:cubicBezTo>
                    <a:pt x="11430000" y="8895461"/>
                    <a:pt x="11364468" y="8960993"/>
                    <a:pt x="11283696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FACEC7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9384020" y="2880360"/>
            <a:ext cx="823046" cy="823046"/>
            <a:chOff x="0" y="0"/>
            <a:chExt cx="1097394" cy="109739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789"/>
                    <a:pt x="0" y="548640"/>
                  </a:cubicBezTo>
                  <a:close/>
                </a:path>
              </a:pathLst>
            </a:custGeom>
            <a:solidFill>
              <a:srgbClr val="C74E3C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0412720" y="2990088"/>
            <a:ext cx="6858000" cy="617400"/>
            <a:chOff x="0" y="0"/>
            <a:chExt cx="9144000" cy="8232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144000" cy="823199"/>
            </a:xfrm>
            <a:custGeom>
              <a:avLst/>
              <a:gdLst/>
              <a:ahLst/>
              <a:cxnLst/>
              <a:rect l="l" t="t" r="r" b="b"/>
              <a:pathLst>
                <a:path w="9144000" h="823199">
                  <a:moveTo>
                    <a:pt x="0" y="0"/>
                  </a:moveTo>
                  <a:lnTo>
                    <a:pt x="9144000" y="0"/>
                  </a:lnTo>
                  <a:lnTo>
                    <a:pt x="9144000" y="823199"/>
                  </a:lnTo>
                  <a:lnTo>
                    <a:pt x="0" y="8231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6437" b="-16643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9144000" cy="861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s-CO" sz="24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Administración poco eficiente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384020" y="3909060"/>
            <a:ext cx="7681046" cy="1303200"/>
            <a:chOff x="0" y="0"/>
            <a:chExt cx="10241394" cy="17376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241400" cy="1737599"/>
            </a:xfrm>
            <a:custGeom>
              <a:avLst/>
              <a:gdLst/>
              <a:ahLst/>
              <a:cxnLst/>
              <a:rect l="l" t="t" r="r" b="b"/>
              <a:pathLst>
                <a:path w="10241400" h="1737599">
                  <a:moveTo>
                    <a:pt x="0" y="0"/>
                  </a:moveTo>
                  <a:lnTo>
                    <a:pt x="10241400" y="0"/>
                  </a:lnTo>
                  <a:lnTo>
                    <a:pt x="10241400" y="1737599"/>
                  </a:lnTo>
                  <a:lnTo>
                    <a:pt x="0" y="17375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844" b="-64844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0241394" cy="1775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s-CO" sz="1875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supermercado no cuenta con un sistema para gestionar inventario y ventas: todo se hace de forma manual, lo que genera errores, demoras y falta de control sobre los productos.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384020" y="5417820"/>
            <a:ext cx="7681046" cy="3497399"/>
            <a:chOff x="0" y="0"/>
            <a:chExt cx="10241394" cy="466319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241407" cy="4663186"/>
            </a:xfrm>
            <a:custGeom>
              <a:avLst/>
              <a:gdLst/>
              <a:ahLst/>
              <a:cxnLst/>
              <a:rect l="l" t="t" r="r" b="b"/>
              <a:pathLst>
                <a:path w="10241407" h="466318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5103" y="0"/>
                  </a:lnTo>
                  <a:cubicBezTo>
                    <a:pt x="10175875" y="0"/>
                    <a:pt x="10241407" y="65532"/>
                    <a:pt x="10241407" y="146304"/>
                  </a:cubicBezTo>
                  <a:lnTo>
                    <a:pt x="10241407" y="4516882"/>
                  </a:lnTo>
                  <a:cubicBezTo>
                    <a:pt x="10241407" y="4597654"/>
                    <a:pt x="10175875" y="4663186"/>
                    <a:pt x="10095103" y="4663186"/>
                  </a:cubicBezTo>
                  <a:lnTo>
                    <a:pt x="146304" y="4663186"/>
                  </a:lnTo>
                  <a:cubicBezTo>
                    <a:pt x="65532" y="4663186"/>
                    <a:pt x="0" y="4597654"/>
                    <a:pt x="0" y="4516882"/>
                  </a:cubicBezTo>
                  <a:close/>
                </a:path>
              </a:pathLst>
            </a:custGeom>
            <a:solidFill>
              <a:srgbClr val="00304D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9795500" y="5692140"/>
            <a:ext cx="6858000" cy="438750"/>
            <a:chOff x="0" y="0"/>
            <a:chExt cx="9144000" cy="5850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144000" cy="585000"/>
            </a:xfrm>
            <a:custGeom>
              <a:avLst/>
              <a:gdLst/>
              <a:ahLst/>
              <a:cxnLst/>
              <a:rect l="l" t="t" r="r" b="b"/>
              <a:pathLst>
                <a:path w="9144000" h="585000">
                  <a:moveTo>
                    <a:pt x="0" y="0"/>
                  </a:moveTo>
                  <a:lnTo>
                    <a:pt x="9144000" y="0"/>
                  </a:lnTo>
                  <a:lnTo>
                    <a:pt x="9144000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4566" b="-254566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9144000" cy="623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s-CO" sz="1800" b="1">
                  <a:solidFill>
                    <a:srgbClr val="FACE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SOLUCIÓN PROPUESTA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795500" y="6172200"/>
            <a:ext cx="6926399" cy="2537550"/>
            <a:chOff x="0" y="0"/>
            <a:chExt cx="9235199" cy="33834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235200" cy="3383406"/>
            </a:xfrm>
            <a:custGeom>
              <a:avLst/>
              <a:gdLst/>
              <a:ahLst/>
              <a:cxnLst/>
              <a:rect l="l" t="t" r="r" b="b"/>
              <a:pathLst>
                <a:path w="9235200" h="3383406">
                  <a:moveTo>
                    <a:pt x="0" y="0"/>
                  </a:moveTo>
                  <a:lnTo>
                    <a:pt x="9235200" y="0"/>
                  </a:lnTo>
                  <a:lnTo>
                    <a:pt x="9235200" y="3383406"/>
                  </a:lnTo>
                  <a:lnTo>
                    <a:pt x="0" y="33834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185" b="-3185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9235199" cy="3431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ECONOMIA reúne ventas, inventario y reportes en una plataforma web segura y fácil de usar, para administradores y clientes, con tienda en línea y entrega a domicilio.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497547" y="2993929"/>
            <a:ext cx="595908" cy="595908"/>
            <a:chOff x="0" y="0"/>
            <a:chExt cx="491579" cy="491579"/>
          </a:xfrm>
        </p:grpSpPr>
        <p:sp>
          <p:nvSpPr>
            <p:cNvPr id="72" name="Freeform 72" descr="icons/bullseye.png"/>
            <p:cNvSpPr/>
            <p:nvPr/>
          </p:nvSpPr>
          <p:spPr>
            <a:xfrm>
              <a:off x="0" y="0"/>
              <a:ext cx="491617" cy="491617"/>
            </a:xfrm>
            <a:custGeom>
              <a:avLst/>
              <a:gdLst/>
              <a:ahLst/>
              <a:cxnLst/>
              <a:rect l="l" t="t" r="r" b="b"/>
              <a:pathLst>
                <a:path w="491617" h="491617">
                  <a:moveTo>
                    <a:pt x="0" y="0"/>
                  </a:moveTo>
                  <a:lnTo>
                    <a:pt x="491617" y="0"/>
                  </a:lnTo>
                  <a:lnTo>
                    <a:pt x="491617" y="491617"/>
                  </a:lnTo>
                  <a:lnTo>
                    <a:pt x="0" y="491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7" b="7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576072"/>
            <a:ext cx="13716000" cy="480150"/>
            <a:chOff x="0" y="0"/>
            <a:chExt cx="18288000" cy="640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640206"/>
            </a:xfrm>
            <a:custGeom>
              <a:avLst/>
              <a:gdLst/>
              <a:ahLst/>
              <a:cxnLst/>
              <a:rect l="l" t="t" r="r" b="b"/>
              <a:pathLst>
                <a:path w="18288000" h="640206">
                  <a:moveTo>
                    <a:pt x="0" y="0"/>
                  </a:moveTo>
                  <a:lnTo>
                    <a:pt x="18288000" y="0"/>
                  </a:lnTo>
                  <a:lnTo>
                    <a:pt x="18288000" y="640206"/>
                  </a:lnTo>
                  <a:lnTo>
                    <a:pt x="0" y="6402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606" b="-506605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88000" cy="687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39A9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¿POR QUÉ LA ECONOMIA?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960" y="987552"/>
            <a:ext cx="16184699" cy="1165946"/>
            <a:chOff x="0" y="0"/>
            <a:chExt cx="21579599" cy="15545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474" b="-22047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Justificación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2960" y="2414301"/>
            <a:ext cx="15910646" cy="2372688"/>
            <a:chOff x="0" y="0"/>
            <a:chExt cx="21214194" cy="31635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14200" cy="3163569"/>
            </a:xfrm>
            <a:custGeom>
              <a:avLst/>
              <a:gdLst/>
              <a:ahLst/>
              <a:cxnLst/>
              <a:rect l="l" t="t" r="r" b="b"/>
              <a:pathLst>
                <a:path w="21214200" h="3163569">
                  <a:moveTo>
                    <a:pt x="0" y="0"/>
                  </a:moveTo>
                  <a:lnTo>
                    <a:pt x="21214200" y="0"/>
                  </a:lnTo>
                  <a:lnTo>
                    <a:pt x="21214200" y="3163569"/>
                  </a:lnTo>
                  <a:lnTo>
                    <a:pt x="0" y="31635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1876" b="-4944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1214194" cy="321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s-CO" sz="2100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Tras el impacto negativo del COVID-19 en sus ventas presenciales, el supermercado “La Economía” busca resurgir mediante la innovación digital: un sistema de ventas en línea seguro y eficiente que permita comprar desde casa de forma más cómoda, rápida y competitiva.</a:t>
              </a:r>
            </a:p>
            <a:p>
              <a:pPr algn="l">
                <a:lnSpc>
                  <a:spcPts val="2520"/>
                </a:lnSpc>
              </a:pPr>
              <a:endParaRPr lang="es-CO" sz="2100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520"/>
                </a:lnSpc>
              </a:pPr>
              <a:endParaRPr lang="es-CO" sz="2100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520"/>
                </a:lnSpc>
              </a:pPr>
              <a:endParaRPr lang="es-CO" sz="2100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520"/>
                </a:lnSpc>
              </a:pPr>
              <a:endParaRPr lang="es-CO" sz="2100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520"/>
                </a:lnSpc>
              </a:pPr>
              <a:endParaRPr lang="es-CO" sz="2100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2960" y="3634740"/>
            <a:ext cx="5239350" cy="2537546"/>
            <a:chOff x="0" y="0"/>
            <a:chExt cx="6985800" cy="33833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3017520" y="3936492"/>
            <a:ext cx="850497" cy="850497"/>
            <a:chOff x="0" y="0"/>
            <a:chExt cx="1133996" cy="11339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238624" y="4157596"/>
            <a:ext cx="408184" cy="408184"/>
            <a:chOff x="0" y="0"/>
            <a:chExt cx="544246" cy="544246"/>
          </a:xfrm>
        </p:grpSpPr>
        <p:sp>
          <p:nvSpPr>
            <p:cNvPr id="17" name="Freeform 17" descr="icons/cogs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9" b="-9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028700" y="4978908"/>
            <a:ext cx="4828051" cy="480146"/>
            <a:chOff x="0" y="0"/>
            <a:chExt cx="6437401" cy="6401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Modernizar la gestión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5445252"/>
            <a:ext cx="4828051" cy="685800"/>
            <a:chOff x="0" y="0"/>
            <a:chExt cx="6437401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Microservicios escalables y seguros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501384" y="3634740"/>
            <a:ext cx="5239350" cy="2537546"/>
            <a:chOff x="0" y="0"/>
            <a:chExt cx="6985800" cy="33833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8695944" y="3936492"/>
            <a:ext cx="850497" cy="850497"/>
            <a:chOff x="0" y="0"/>
            <a:chExt cx="1133996" cy="11339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8917048" y="4157596"/>
            <a:ext cx="408184" cy="408184"/>
            <a:chOff x="0" y="0"/>
            <a:chExt cx="544246" cy="544246"/>
          </a:xfrm>
        </p:grpSpPr>
        <p:sp>
          <p:nvSpPr>
            <p:cNvPr id="29" name="Freeform 29" descr="icons/check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9" b="-9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6707124" y="4978908"/>
            <a:ext cx="4828051" cy="480146"/>
            <a:chOff x="0" y="0"/>
            <a:chExt cx="6437401" cy="64019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Reducir errores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07124" y="5445252"/>
            <a:ext cx="4828051" cy="685800"/>
            <a:chOff x="0" y="0"/>
            <a:chExt cx="6437401" cy="914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Menos fallos en caja, ventas e inventario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79808" y="3634740"/>
            <a:ext cx="5239350" cy="2537546"/>
            <a:chOff x="0" y="0"/>
            <a:chExt cx="6985800" cy="338339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4374368" y="3936492"/>
            <a:ext cx="850497" cy="850497"/>
            <a:chOff x="0" y="0"/>
            <a:chExt cx="1133996" cy="113399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4595472" y="4157596"/>
            <a:ext cx="408184" cy="408184"/>
            <a:chOff x="0" y="0"/>
            <a:chExt cx="544246" cy="544246"/>
          </a:xfrm>
        </p:grpSpPr>
        <p:sp>
          <p:nvSpPr>
            <p:cNvPr id="41" name="Freeform 41" descr="icons/mobile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9" b="-9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2385548" y="4978908"/>
            <a:ext cx="4828051" cy="480146"/>
            <a:chOff x="0" y="0"/>
            <a:chExt cx="6437401" cy="64019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Compra digital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385548" y="5445252"/>
            <a:ext cx="4828051" cy="685800"/>
            <a:chOff x="0" y="0"/>
            <a:chExt cx="6437401" cy="914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Canasta familiar desde casa, ahorrando tiempo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22960" y="6556248"/>
            <a:ext cx="5239350" cy="2537546"/>
            <a:chOff x="0" y="0"/>
            <a:chExt cx="6985800" cy="338339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3017520" y="6858000"/>
            <a:ext cx="850497" cy="850497"/>
            <a:chOff x="0" y="0"/>
            <a:chExt cx="1133996" cy="113399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3238624" y="7079104"/>
            <a:ext cx="408184" cy="408184"/>
            <a:chOff x="0" y="0"/>
            <a:chExt cx="544246" cy="544246"/>
          </a:xfrm>
        </p:grpSpPr>
        <p:sp>
          <p:nvSpPr>
            <p:cNvPr id="53" name="Freeform 53" descr="icons/leaf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9" b="-9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1028700" y="7900416"/>
            <a:ext cx="4828051" cy="480146"/>
            <a:chOff x="0" y="0"/>
            <a:chExt cx="6437401" cy="64019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Cuidado ambiental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28700" y="8366760"/>
            <a:ext cx="4828051" cy="685800"/>
            <a:chOff x="0" y="0"/>
            <a:chExt cx="6437401" cy="9144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Menos papel en recibos e inventarios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501384" y="6556248"/>
            <a:ext cx="5239350" cy="2537546"/>
            <a:chOff x="0" y="0"/>
            <a:chExt cx="6985800" cy="338339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8695944" y="6858000"/>
            <a:ext cx="850497" cy="850497"/>
            <a:chOff x="0" y="0"/>
            <a:chExt cx="1133996" cy="11339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8917048" y="7079104"/>
            <a:ext cx="408184" cy="408184"/>
            <a:chOff x="0" y="0"/>
            <a:chExt cx="544246" cy="544246"/>
          </a:xfrm>
        </p:grpSpPr>
        <p:sp>
          <p:nvSpPr>
            <p:cNvPr id="65" name="Freeform 65" descr="icons/chart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9" b="-9"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6707124" y="7900416"/>
            <a:ext cx="4828051" cy="480146"/>
            <a:chOff x="0" y="0"/>
            <a:chExt cx="6437401" cy="64019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Mejor administración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707124" y="8366760"/>
            <a:ext cx="4828051" cy="685800"/>
            <a:chOff x="0" y="0"/>
            <a:chExt cx="6437401" cy="9144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Menos mermas y productos vencidos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179808" y="6556248"/>
            <a:ext cx="5239350" cy="2537546"/>
            <a:chOff x="0" y="0"/>
            <a:chExt cx="6985800" cy="338339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4374368" y="6858000"/>
            <a:ext cx="850497" cy="850497"/>
            <a:chOff x="0" y="0"/>
            <a:chExt cx="1133996" cy="113399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14595472" y="7079104"/>
            <a:ext cx="408184" cy="408184"/>
            <a:chOff x="0" y="0"/>
            <a:chExt cx="544246" cy="544246"/>
          </a:xfrm>
        </p:grpSpPr>
        <p:sp>
          <p:nvSpPr>
            <p:cNvPr id="77" name="Freeform 77" descr="icons/shield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9"/>
              </a:stretch>
            </a:blipFill>
          </p:spPr>
        </p:sp>
      </p:grpSp>
      <p:grpSp>
        <p:nvGrpSpPr>
          <p:cNvPr id="78" name="Group 78"/>
          <p:cNvGrpSpPr/>
          <p:nvPr/>
        </p:nvGrpSpPr>
        <p:grpSpPr>
          <a:xfrm>
            <a:off x="12385548" y="7900416"/>
            <a:ext cx="4828051" cy="480146"/>
            <a:chOff x="0" y="0"/>
            <a:chExt cx="6437401" cy="64019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Información confiable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385548" y="8366760"/>
            <a:ext cx="4828051" cy="685800"/>
            <a:chOff x="0" y="0"/>
            <a:chExt cx="6437401" cy="9144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Datos precisos y protegidos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3716000" cy="480146"/>
            <a:chOff x="0" y="0"/>
            <a:chExt cx="18288000" cy="640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200"/>
            </a:xfrm>
            <a:custGeom>
              <a:avLst/>
              <a:gdLst/>
              <a:ahLst/>
              <a:cxnLst/>
              <a:rect l="l" t="t" r="r" b="b"/>
              <a:pathLst>
                <a:path w="18288000" h="640200">
                  <a:moveTo>
                    <a:pt x="0" y="0"/>
                  </a:moveTo>
                  <a:lnTo>
                    <a:pt x="18288000" y="0"/>
                  </a:lnTo>
                  <a:lnTo>
                    <a:pt x="182880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611" b="-50661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88000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39A9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METAS DEL PROYECTO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987552"/>
            <a:ext cx="16184699" cy="1165946"/>
            <a:chOff x="0" y="0"/>
            <a:chExt cx="21579599" cy="15545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474" b="-22047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Objetivos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468880"/>
            <a:ext cx="15910646" cy="1577254"/>
            <a:chOff x="0" y="0"/>
            <a:chExt cx="21214194" cy="21030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214207" cy="2102993"/>
            </a:xfrm>
            <a:custGeom>
              <a:avLst/>
              <a:gdLst/>
              <a:ahLst/>
              <a:cxnLst/>
              <a:rect l="l" t="t" r="r" b="b"/>
              <a:pathLst>
                <a:path w="21214207" h="2102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067903" y="0"/>
                  </a:lnTo>
                  <a:cubicBezTo>
                    <a:pt x="21148675" y="0"/>
                    <a:pt x="21214207" y="65532"/>
                    <a:pt x="21214207" y="146304"/>
                  </a:cubicBezTo>
                  <a:lnTo>
                    <a:pt x="21214207" y="1956689"/>
                  </a:lnTo>
                  <a:cubicBezTo>
                    <a:pt x="21214207" y="2037461"/>
                    <a:pt x="21148675" y="2102993"/>
                    <a:pt x="21067903" y="2102993"/>
                  </a:cubicBezTo>
                  <a:lnTo>
                    <a:pt x="146304" y="2102993"/>
                  </a:lnTo>
                  <a:cubicBezTo>
                    <a:pt x="65532" y="2102993"/>
                    <a:pt x="0" y="2037461"/>
                    <a:pt x="0" y="1956689"/>
                  </a:cubicBezTo>
                  <a:close/>
                </a:path>
              </a:pathLst>
            </a:custGeom>
            <a:solidFill>
              <a:srgbClr val="00304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303020" y="2811780"/>
            <a:ext cx="891454" cy="891454"/>
            <a:chOff x="0" y="0"/>
            <a:chExt cx="1188606" cy="11886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528"/>
                    <a:pt x="0" y="59436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34820" y="3043580"/>
            <a:ext cx="427939" cy="427939"/>
            <a:chOff x="0" y="0"/>
            <a:chExt cx="570586" cy="570586"/>
          </a:xfrm>
        </p:grpSpPr>
        <p:sp>
          <p:nvSpPr>
            <p:cNvPr id="13" name="Freeform 13" descr="icons/bullseye.png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457907" y="2517019"/>
            <a:ext cx="4114800" cy="411299"/>
            <a:chOff x="0" y="0"/>
            <a:chExt cx="5486400" cy="5483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548400"/>
            </a:xfrm>
            <a:custGeom>
              <a:avLst/>
              <a:gdLst/>
              <a:ahLst/>
              <a:cxnLst/>
              <a:rect l="l" t="t" r="r" b="b"/>
              <a:pathLst>
                <a:path w="5486400" h="548400">
                  <a:moveTo>
                    <a:pt x="0" y="0"/>
                  </a:moveTo>
                  <a:lnTo>
                    <a:pt x="5486400" y="0"/>
                  </a:lnTo>
                  <a:lnTo>
                    <a:pt x="54864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935" b="-14493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5864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s-CO" sz="2400" b="1">
                  <a:solidFill>
                    <a:srgbClr val="FDC3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68880" y="2956465"/>
            <a:ext cx="13853246" cy="1360829"/>
            <a:chOff x="0" y="0"/>
            <a:chExt cx="18470994" cy="18144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471000" cy="1814438"/>
            </a:xfrm>
            <a:custGeom>
              <a:avLst/>
              <a:gdLst/>
              <a:ahLst/>
              <a:cxnLst/>
              <a:rect l="l" t="t" r="r" b="b"/>
              <a:pathLst>
                <a:path w="18471000" h="1814438">
                  <a:moveTo>
                    <a:pt x="0" y="0"/>
                  </a:moveTo>
                  <a:lnTo>
                    <a:pt x="18471000" y="0"/>
                  </a:lnTo>
                  <a:lnTo>
                    <a:pt x="18471000" y="1814438"/>
                  </a:lnTo>
                  <a:lnTo>
                    <a:pt x="0" y="1814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082" b="-13263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8470994" cy="18620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s-CO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 Sistema de Información para la gestión de ventas en línea de la tienda “La Economía”, que permita automatizar el control de inventarios, ventas y reportes, mejorando la eficiencia operativa del negocio.</a:t>
              </a:r>
            </a:p>
            <a:p>
              <a:pPr algn="l">
                <a:lnSpc>
                  <a:spcPts val="2520"/>
                </a:lnSpc>
              </a:pPr>
              <a:endParaRPr lang="es-CO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22960" y="4389120"/>
            <a:ext cx="6858000" cy="480146"/>
            <a:chOff x="0" y="0"/>
            <a:chExt cx="9144000" cy="64019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0" cy="640200"/>
            </a:xfrm>
            <a:custGeom>
              <a:avLst/>
              <a:gdLst/>
              <a:ahLst/>
              <a:cxnLst/>
              <a:rect l="l" t="t" r="r" b="b"/>
              <a:pathLst>
                <a:path w="9144000" h="640200">
                  <a:moveTo>
                    <a:pt x="0" y="0"/>
                  </a:moveTo>
                  <a:lnTo>
                    <a:pt x="9144000" y="0"/>
                  </a:lnTo>
                  <a:lnTo>
                    <a:pt x="91440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05" b="-22830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9144000" cy="697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s-CO" sz="22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específicos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2960" y="5006340"/>
            <a:ext cx="2940748" cy="3223346"/>
            <a:chOff x="0" y="0"/>
            <a:chExt cx="3920998" cy="429779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20998" cy="4297807"/>
            </a:xfrm>
            <a:custGeom>
              <a:avLst/>
              <a:gdLst/>
              <a:ahLst/>
              <a:cxnLst/>
              <a:rect l="l" t="t" r="r" b="b"/>
              <a:pathLst>
                <a:path w="3920998" h="42978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74694" y="0"/>
                  </a:lnTo>
                  <a:cubicBezTo>
                    <a:pt x="3855466" y="0"/>
                    <a:pt x="3920998" y="65532"/>
                    <a:pt x="3920998" y="146304"/>
                  </a:cubicBezTo>
                  <a:lnTo>
                    <a:pt x="3920998" y="4151503"/>
                  </a:lnTo>
                  <a:cubicBezTo>
                    <a:pt x="3920998" y="4232275"/>
                    <a:pt x="3855466" y="4297807"/>
                    <a:pt x="3774694" y="4297807"/>
                  </a:cubicBezTo>
                  <a:lnTo>
                    <a:pt x="146304" y="4297807"/>
                  </a:lnTo>
                  <a:cubicBezTo>
                    <a:pt x="65532" y="4297807"/>
                    <a:pt x="0" y="4232275"/>
                    <a:pt x="0" y="4151503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950415" y="5280660"/>
            <a:ext cx="685800" cy="685800"/>
            <a:chOff x="0" y="0"/>
            <a:chExt cx="914400" cy="914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2128723" y="5458968"/>
            <a:ext cx="329184" cy="329184"/>
            <a:chOff x="0" y="0"/>
            <a:chExt cx="438912" cy="438912"/>
          </a:xfrm>
        </p:grpSpPr>
        <p:sp>
          <p:nvSpPr>
            <p:cNvPr id="28" name="Freeform 28" descr="icons/clipboard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960120" y="6172200"/>
            <a:ext cx="2666248" cy="754199"/>
            <a:chOff x="0" y="0"/>
            <a:chExt cx="3554997" cy="100559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555000" cy="1005600"/>
            </a:xfrm>
            <a:custGeom>
              <a:avLst/>
              <a:gdLst/>
              <a:ahLst/>
              <a:cxnLst/>
              <a:rect l="l" t="t" r="r" b="b"/>
              <a:pathLst>
                <a:path w="3555000" h="1005600">
                  <a:moveTo>
                    <a:pt x="0" y="0"/>
                  </a:moveTo>
                  <a:lnTo>
                    <a:pt x="3555000" y="0"/>
                  </a:lnTo>
                  <a:lnTo>
                    <a:pt x="3555000" y="1005600"/>
                  </a:lnTo>
                  <a:lnTo>
                    <a:pt x="0" y="100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83" b="-1888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554997" cy="10436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s-CO" sz="18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Identificar necesidades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87552" y="6926580"/>
            <a:ext cx="2611345" cy="1165950"/>
            <a:chOff x="0" y="0"/>
            <a:chExt cx="3481794" cy="155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481800" cy="1554606"/>
            </a:xfrm>
            <a:custGeom>
              <a:avLst/>
              <a:gdLst/>
              <a:ahLst/>
              <a:cxnLst/>
              <a:rect l="l" t="t" r="r" b="b"/>
              <a:pathLst>
                <a:path w="3481800" h="1554606">
                  <a:moveTo>
                    <a:pt x="0" y="0"/>
                  </a:moveTo>
                  <a:lnTo>
                    <a:pt x="3481800" y="0"/>
                  </a:lnTo>
                  <a:lnTo>
                    <a:pt x="3481800" y="1554606"/>
                  </a:lnTo>
                  <a:lnTo>
                    <a:pt x="0" y="1554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86" r="-728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3481794" cy="1573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Levantar los requerimientos del supermercado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065422" y="5006340"/>
            <a:ext cx="2940748" cy="3223346"/>
            <a:chOff x="0" y="0"/>
            <a:chExt cx="3920998" cy="429779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920998" cy="4297807"/>
            </a:xfrm>
            <a:custGeom>
              <a:avLst/>
              <a:gdLst/>
              <a:ahLst/>
              <a:cxnLst/>
              <a:rect l="l" t="t" r="r" b="b"/>
              <a:pathLst>
                <a:path w="3920998" h="42978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74694" y="0"/>
                  </a:lnTo>
                  <a:cubicBezTo>
                    <a:pt x="3855466" y="0"/>
                    <a:pt x="3920998" y="65532"/>
                    <a:pt x="3920998" y="146304"/>
                  </a:cubicBezTo>
                  <a:lnTo>
                    <a:pt x="3920998" y="4151503"/>
                  </a:lnTo>
                  <a:cubicBezTo>
                    <a:pt x="3920998" y="4232275"/>
                    <a:pt x="3855466" y="4297807"/>
                    <a:pt x="3774694" y="4297807"/>
                  </a:cubicBezTo>
                  <a:lnTo>
                    <a:pt x="146304" y="4297807"/>
                  </a:lnTo>
                  <a:cubicBezTo>
                    <a:pt x="65532" y="4297807"/>
                    <a:pt x="0" y="4232275"/>
                    <a:pt x="0" y="4151503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5192878" y="5280660"/>
            <a:ext cx="685800" cy="685800"/>
            <a:chOff x="0" y="0"/>
            <a:chExt cx="914400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4202582" y="6172200"/>
            <a:ext cx="2666248" cy="754199"/>
            <a:chOff x="0" y="0"/>
            <a:chExt cx="3554997" cy="100559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555000" cy="1005600"/>
            </a:xfrm>
            <a:custGeom>
              <a:avLst/>
              <a:gdLst/>
              <a:ahLst/>
              <a:cxnLst/>
              <a:rect l="l" t="t" r="r" b="b"/>
              <a:pathLst>
                <a:path w="3555000" h="1005600">
                  <a:moveTo>
                    <a:pt x="0" y="0"/>
                  </a:moveTo>
                  <a:lnTo>
                    <a:pt x="3555000" y="0"/>
                  </a:lnTo>
                  <a:lnTo>
                    <a:pt x="3555000" y="1005600"/>
                  </a:lnTo>
                  <a:lnTo>
                    <a:pt x="0" y="100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83" b="-1888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554997" cy="10436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s-CO" sz="18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 integral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230014" y="6926580"/>
            <a:ext cx="2611345" cy="1165946"/>
            <a:chOff x="0" y="0"/>
            <a:chExt cx="3481794" cy="155459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481800" cy="1554600"/>
            </a:xfrm>
            <a:custGeom>
              <a:avLst/>
              <a:gdLst/>
              <a:ahLst/>
              <a:cxnLst/>
              <a:rect l="l" t="t" r="r" b="b"/>
              <a:pathLst>
                <a:path w="3481800" h="1554600">
                  <a:moveTo>
                    <a:pt x="0" y="0"/>
                  </a:moveTo>
                  <a:lnTo>
                    <a:pt x="3481800" y="0"/>
                  </a:lnTo>
                  <a:lnTo>
                    <a:pt x="3481800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86" r="-728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3481794" cy="15736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Gestionar ventas e inventario de forma fácil y segura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307885" y="5006340"/>
            <a:ext cx="2940748" cy="3223346"/>
            <a:chOff x="0" y="0"/>
            <a:chExt cx="3920998" cy="429779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920998" cy="4297807"/>
            </a:xfrm>
            <a:custGeom>
              <a:avLst/>
              <a:gdLst/>
              <a:ahLst/>
              <a:cxnLst/>
              <a:rect l="l" t="t" r="r" b="b"/>
              <a:pathLst>
                <a:path w="3920998" h="42978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74694" y="0"/>
                  </a:lnTo>
                  <a:cubicBezTo>
                    <a:pt x="3855466" y="0"/>
                    <a:pt x="3920998" y="65532"/>
                    <a:pt x="3920998" y="146304"/>
                  </a:cubicBezTo>
                  <a:lnTo>
                    <a:pt x="3920998" y="4151503"/>
                  </a:lnTo>
                  <a:cubicBezTo>
                    <a:pt x="3920998" y="4232275"/>
                    <a:pt x="3855466" y="4297807"/>
                    <a:pt x="3774694" y="4297807"/>
                  </a:cubicBezTo>
                  <a:lnTo>
                    <a:pt x="146304" y="4297807"/>
                  </a:lnTo>
                  <a:cubicBezTo>
                    <a:pt x="65532" y="4297807"/>
                    <a:pt x="0" y="4232275"/>
                    <a:pt x="0" y="4151503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8435340" y="5280660"/>
            <a:ext cx="685800" cy="685800"/>
            <a:chOff x="0" y="0"/>
            <a:chExt cx="914400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5368976" y="5458968"/>
            <a:ext cx="329184" cy="329184"/>
            <a:chOff x="0" y="0"/>
            <a:chExt cx="438912" cy="438912"/>
          </a:xfrm>
        </p:grpSpPr>
        <p:sp>
          <p:nvSpPr>
            <p:cNvPr id="50" name="Freeform 50" descr="icons/cart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8615896" y="5457345"/>
            <a:ext cx="329184" cy="329184"/>
            <a:chOff x="0" y="0"/>
            <a:chExt cx="438912" cy="438912"/>
          </a:xfrm>
        </p:grpSpPr>
        <p:sp>
          <p:nvSpPr>
            <p:cNvPr id="52" name="Freeform 52" descr="icons/boxes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7445045" y="6172200"/>
            <a:ext cx="2666248" cy="754199"/>
            <a:chOff x="0" y="0"/>
            <a:chExt cx="3554997" cy="100559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555000" cy="1005600"/>
            </a:xfrm>
            <a:custGeom>
              <a:avLst/>
              <a:gdLst/>
              <a:ahLst/>
              <a:cxnLst/>
              <a:rect l="l" t="t" r="r" b="b"/>
              <a:pathLst>
                <a:path w="3555000" h="1005600">
                  <a:moveTo>
                    <a:pt x="0" y="0"/>
                  </a:moveTo>
                  <a:lnTo>
                    <a:pt x="3555000" y="0"/>
                  </a:lnTo>
                  <a:lnTo>
                    <a:pt x="3555000" y="1005600"/>
                  </a:lnTo>
                  <a:lnTo>
                    <a:pt x="0" y="100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83" b="-1888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3554997" cy="10436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s-CO" sz="18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Interfaz intuitiva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472477" y="6926580"/>
            <a:ext cx="2611345" cy="1165950"/>
            <a:chOff x="0" y="0"/>
            <a:chExt cx="3481794" cy="15546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481800" cy="1554606"/>
            </a:xfrm>
            <a:custGeom>
              <a:avLst/>
              <a:gdLst/>
              <a:ahLst/>
              <a:cxnLst/>
              <a:rect l="l" t="t" r="r" b="b"/>
              <a:pathLst>
                <a:path w="3481800" h="1554606">
                  <a:moveTo>
                    <a:pt x="0" y="0"/>
                  </a:moveTo>
                  <a:lnTo>
                    <a:pt x="3481800" y="0"/>
                  </a:lnTo>
                  <a:lnTo>
                    <a:pt x="3481800" y="1554606"/>
                  </a:lnTo>
                  <a:lnTo>
                    <a:pt x="0" y="1554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86" r="-728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3481794" cy="1573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Rápida, organizada y sin necesidad de experiencia técnica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550347" y="5006340"/>
            <a:ext cx="2940748" cy="3223346"/>
            <a:chOff x="0" y="0"/>
            <a:chExt cx="3920998" cy="429779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920998" cy="4297807"/>
            </a:xfrm>
            <a:custGeom>
              <a:avLst/>
              <a:gdLst/>
              <a:ahLst/>
              <a:cxnLst/>
              <a:rect l="l" t="t" r="r" b="b"/>
              <a:pathLst>
                <a:path w="3920998" h="42978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74694" y="0"/>
                  </a:lnTo>
                  <a:cubicBezTo>
                    <a:pt x="3855466" y="0"/>
                    <a:pt x="3920998" y="65532"/>
                    <a:pt x="3920998" y="146304"/>
                  </a:cubicBezTo>
                  <a:lnTo>
                    <a:pt x="3920998" y="4151503"/>
                  </a:lnTo>
                  <a:cubicBezTo>
                    <a:pt x="3920998" y="4232275"/>
                    <a:pt x="3855466" y="4297807"/>
                    <a:pt x="3774694" y="4297807"/>
                  </a:cubicBezTo>
                  <a:lnTo>
                    <a:pt x="146304" y="4297807"/>
                  </a:lnTo>
                  <a:cubicBezTo>
                    <a:pt x="65532" y="4297807"/>
                    <a:pt x="0" y="4232275"/>
                    <a:pt x="0" y="4151503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1677802" y="5280660"/>
            <a:ext cx="685800" cy="685800"/>
            <a:chOff x="0" y="0"/>
            <a:chExt cx="914400" cy="9144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1856110" y="5458968"/>
            <a:ext cx="329184" cy="329184"/>
            <a:chOff x="0" y="0"/>
            <a:chExt cx="438912" cy="438912"/>
          </a:xfrm>
        </p:grpSpPr>
        <p:sp>
          <p:nvSpPr>
            <p:cNvPr id="64" name="Freeform 64" descr="icons/mobile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10687507" y="6172200"/>
            <a:ext cx="2666248" cy="754199"/>
            <a:chOff x="0" y="0"/>
            <a:chExt cx="3554997" cy="1005599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555000" cy="1005600"/>
            </a:xfrm>
            <a:custGeom>
              <a:avLst/>
              <a:gdLst/>
              <a:ahLst/>
              <a:cxnLst/>
              <a:rect l="l" t="t" r="r" b="b"/>
              <a:pathLst>
                <a:path w="3555000" h="1005600">
                  <a:moveTo>
                    <a:pt x="0" y="0"/>
                  </a:moveTo>
                  <a:lnTo>
                    <a:pt x="3555000" y="0"/>
                  </a:lnTo>
                  <a:lnTo>
                    <a:pt x="3555000" y="1005600"/>
                  </a:lnTo>
                  <a:lnTo>
                    <a:pt x="0" y="100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83" b="-1888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3554997" cy="10436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s-CO" sz="18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de datos segura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714939" y="6926580"/>
            <a:ext cx="2611345" cy="1165950"/>
            <a:chOff x="0" y="0"/>
            <a:chExt cx="3481794" cy="15546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481800" cy="1554606"/>
            </a:xfrm>
            <a:custGeom>
              <a:avLst/>
              <a:gdLst/>
              <a:ahLst/>
              <a:cxnLst/>
              <a:rect l="l" t="t" r="r" b="b"/>
              <a:pathLst>
                <a:path w="3481800" h="1554606">
                  <a:moveTo>
                    <a:pt x="0" y="0"/>
                  </a:moveTo>
                  <a:lnTo>
                    <a:pt x="3481800" y="0"/>
                  </a:lnTo>
                  <a:lnTo>
                    <a:pt x="3481800" y="1554606"/>
                  </a:lnTo>
                  <a:lnTo>
                    <a:pt x="0" y="1554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86" r="-7286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19050"/>
              <a:ext cx="3481794" cy="1573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Almacena y protege productos, ventas e inventario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792810" y="5006340"/>
            <a:ext cx="2940748" cy="3223346"/>
            <a:chOff x="0" y="0"/>
            <a:chExt cx="3920998" cy="429779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920998" cy="4297807"/>
            </a:xfrm>
            <a:custGeom>
              <a:avLst/>
              <a:gdLst/>
              <a:ahLst/>
              <a:cxnLst/>
              <a:rect l="l" t="t" r="r" b="b"/>
              <a:pathLst>
                <a:path w="3920998" h="42978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74694" y="0"/>
                  </a:lnTo>
                  <a:cubicBezTo>
                    <a:pt x="3855466" y="0"/>
                    <a:pt x="3920998" y="65532"/>
                    <a:pt x="3920998" y="146304"/>
                  </a:cubicBezTo>
                  <a:lnTo>
                    <a:pt x="3920998" y="4151503"/>
                  </a:lnTo>
                  <a:cubicBezTo>
                    <a:pt x="3920998" y="4232275"/>
                    <a:pt x="3855466" y="4297807"/>
                    <a:pt x="3774694" y="4297807"/>
                  </a:cubicBezTo>
                  <a:lnTo>
                    <a:pt x="146304" y="4297807"/>
                  </a:lnTo>
                  <a:cubicBezTo>
                    <a:pt x="65532" y="4297807"/>
                    <a:pt x="0" y="4232275"/>
                    <a:pt x="0" y="4151503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4920265" y="5280660"/>
            <a:ext cx="685800" cy="685800"/>
            <a:chOff x="0" y="0"/>
            <a:chExt cx="914400" cy="9144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5098573" y="5458968"/>
            <a:ext cx="329184" cy="329184"/>
            <a:chOff x="0" y="0"/>
            <a:chExt cx="438912" cy="438912"/>
          </a:xfrm>
        </p:grpSpPr>
        <p:sp>
          <p:nvSpPr>
            <p:cNvPr id="76" name="Freeform 76" descr="icons/leaf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77" name="Group 77"/>
          <p:cNvGrpSpPr/>
          <p:nvPr/>
        </p:nvGrpSpPr>
        <p:grpSpPr>
          <a:xfrm>
            <a:off x="13929970" y="6172200"/>
            <a:ext cx="2666248" cy="754199"/>
            <a:chOff x="0" y="0"/>
            <a:chExt cx="3554997" cy="1005599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555000" cy="1005600"/>
            </a:xfrm>
            <a:custGeom>
              <a:avLst/>
              <a:gdLst/>
              <a:ahLst/>
              <a:cxnLst/>
              <a:rect l="l" t="t" r="r" b="b"/>
              <a:pathLst>
                <a:path w="3555000" h="1005600">
                  <a:moveTo>
                    <a:pt x="0" y="0"/>
                  </a:moveTo>
                  <a:lnTo>
                    <a:pt x="3555000" y="0"/>
                  </a:lnTo>
                  <a:lnTo>
                    <a:pt x="3555000" y="1005600"/>
                  </a:lnTo>
                  <a:lnTo>
                    <a:pt x="0" y="100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83" b="-18883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3554997" cy="10436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s-CO" sz="18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 y despliegue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3971137" y="6926313"/>
            <a:ext cx="2611345" cy="1165950"/>
            <a:chOff x="0" y="0"/>
            <a:chExt cx="3481794" cy="15546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481800" cy="1554606"/>
            </a:xfrm>
            <a:custGeom>
              <a:avLst/>
              <a:gdLst/>
              <a:ahLst/>
              <a:cxnLst/>
              <a:rect l="l" t="t" r="r" b="b"/>
              <a:pathLst>
                <a:path w="3481800" h="1554606">
                  <a:moveTo>
                    <a:pt x="0" y="0"/>
                  </a:moveTo>
                  <a:lnTo>
                    <a:pt x="3481800" y="0"/>
                  </a:lnTo>
                  <a:lnTo>
                    <a:pt x="3481800" y="1554606"/>
                  </a:lnTo>
                  <a:lnTo>
                    <a:pt x="0" y="1554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86" r="-7286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3481794" cy="1573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Pruebas de errores y fallos antes de publicar el software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576072"/>
            <a:ext cx="13716000" cy="480146"/>
            <a:chOff x="0" y="0"/>
            <a:chExt cx="18288000" cy="6401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640200"/>
            </a:xfrm>
            <a:custGeom>
              <a:avLst/>
              <a:gdLst/>
              <a:ahLst/>
              <a:cxnLst/>
              <a:rect l="l" t="t" r="r" b="b"/>
              <a:pathLst>
                <a:path w="18288000" h="640200">
                  <a:moveTo>
                    <a:pt x="0" y="0"/>
                  </a:moveTo>
                  <a:lnTo>
                    <a:pt x="18288000" y="0"/>
                  </a:lnTo>
                  <a:lnTo>
                    <a:pt x="182880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611" b="-50661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88000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39A9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DELIMITACIÓN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960" y="987552"/>
            <a:ext cx="16184699" cy="1165946"/>
            <a:chOff x="0" y="0"/>
            <a:chExt cx="21579599" cy="15545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474" b="-22047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Alcance del proyecto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2960" y="2468880"/>
            <a:ext cx="5075101" cy="6720754"/>
            <a:chOff x="0" y="0"/>
            <a:chExt cx="6766801" cy="89610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66814" cy="8960993"/>
            </a:xfrm>
            <a:custGeom>
              <a:avLst/>
              <a:gdLst/>
              <a:ahLst/>
              <a:cxnLst/>
              <a:rect l="l" t="t" r="r" b="b"/>
              <a:pathLst>
                <a:path w="6766814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510" y="0"/>
                  </a:lnTo>
                  <a:cubicBezTo>
                    <a:pt x="6701282" y="0"/>
                    <a:pt x="6766814" y="65532"/>
                    <a:pt x="6766814" y="146304"/>
                  </a:cubicBezTo>
                  <a:lnTo>
                    <a:pt x="6766814" y="8814689"/>
                  </a:lnTo>
                  <a:cubicBezTo>
                    <a:pt x="6766814" y="8895461"/>
                    <a:pt x="6701282" y="8960993"/>
                    <a:pt x="6620510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03020" y="2880360"/>
            <a:ext cx="823046" cy="823046"/>
            <a:chOff x="0" y="0"/>
            <a:chExt cx="1097394" cy="10973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789"/>
                    <a:pt x="0" y="54864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516990" y="3094330"/>
            <a:ext cx="395021" cy="395021"/>
            <a:chOff x="0" y="0"/>
            <a:chExt cx="526694" cy="526694"/>
          </a:xfrm>
        </p:grpSpPr>
        <p:sp>
          <p:nvSpPr>
            <p:cNvPr id="14" name="Freeform 14" descr="icons/users.png"/>
            <p:cNvSpPr/>
            <p:nvPr/>
          </p:nvSpPr>
          <p:spPr>
            <a:xfrm>
              <a:off x="0" y="0"/>
              <a:ext cx="526669" cy="526669"/>
            </a:xfrm>
            <a:custGeom>
              <a:avLst/>
              <a:gdLst/>
              <a:ahLst/>
              <a:cxnLst/>
              <a:rect l="l" t="t" r="r" b="b"/>
              <a:pathLst>
                <a:path w="526669" h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" b="-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331720" y="2990088"/>
            <a:ext cx="3291754" cy="617401"/>
            <a:chOff x="0" y="0"/>
            <a:chExt cx="4389006" cy="823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89000" cy="823200"/>
            </a:xfrm>
            <a:custGeom>
              <a:avLst/>
              <a:gdLst/>
              <a:ahLst/>
              <a:cxnLst/>
              <a:rect l="l" t="t" r="r" b="b"/>
              <a:pathLst>
                <a:path w="4389000" h="823200">
                  <a:moveTo>
                    <a:pt x="0" y="0"/>
                  </a:moveTo>
                  <a:lnTo>
                    <a:pt x="4389000" y="0"/>
                  </a:lnTo>
                  <a:lnTo>
                    <a:pt x="4389000" y="823200"/>
                  </a:lnTo>
                  <a:lnTo>
                    <a:pt x="0" y="82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887" b="-5388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389006" cy="8613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s-CO" sz="24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03020" y="3870960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Registro e inicio de sesión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3020" y="4803648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Buscar productos por nombre o categoría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3020" y="5736336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Gestionar el carrito de compras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3020" y="6669024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Realizar pedidos con dirección de entrega y pago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3020" y="7601712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 su historial de compras y su cuenta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240780" y="2468880"/>
            <a:ext cx="5075101" cy="6720754"/>
            <a:chOff x="0" y="0"/>
            <a:chExt cx="6766801" cy="89610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766814" cy="8960993"/>
            </a:xfrm>
            <a:custGeom>
              <a:avLst/>
              <a:gdLst/>
              <a:ahLst/>
              <a:cxnLst/>
              <a:rect l="l" t="t" r="r" b="b"/>
              <a:pathLst>
                <a:path w="6766814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510" y="0"/>
                  </a:lnTo>
                  <a:cubicBezTo>
                    <a:pt x="6701282" y="0"/>
                    <a:pt x="6766814" y="65532"/>
                    <a:pt x="6766814" y="146304"/>
                  </a:cubicBezTo>
                  <a:lnTo>
                    <a:pt x="6766814" y="8814689"/>
                  </a:lnTo>
                  <a:cubicBezTo>
                    <a:pt x="6766814" y="8895461"/>
                    <a:pt x="6701282" y="8960993"/>
                    <a:pt x="6620510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720840" y="2880360"/>
            <a:ext cx="823046" cy="823046"/>
            <a:chOff x="0" y="0"/>
            <a:chExt cx="1097394" cy="109739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789"/>
                    <a:pt x="0" y="54864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6934810" y="3094330"/>
            <a:ext cx="395021" cy="395021"/>
            <a:chOff x="0" y="0"/>
            <a:chExt cx="526694" cy="526694"/>
          </a:xfrm>
        </p:grpSpPr>
        <p:sp>
          <p:nvSpPr>
            <p:cNvPr id="28" name="Freeform 28" descr="icons/cogs.png"/>
            <p:cNvSpPr/>
            <p:nvPr/>
          </p:nvSpPr>
          <p:spPr>
            <a:xfrm>
              <a:off x="0" y="0"/>
              <a:ext cx="526669" cy="526669"/>
            </a:xfrm>
            <a:custGeom>
              <a:avLst/>
              <a:gdLst/>
              <a:ahLst/>
              <a:cxnLst/>
              <a:rect l="l" t="t" r="r" b="b"/>
              <a:pathLst>
                <a:path w="526669" h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4" b="-4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7749540" y="2990088"/>
            <a:ext cx="3429000" cy="617401"/>
            <a:chOff x="0" y="0"/>
            <a:chExt cx="4572000" cy="82320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72000" cy="823200"/>
            </a:xfrm>
            <a:custGeom>
              <a:avLst/>
              <a:gdLst/>
              <a:ahLst/>
              <a:cxnLst/>
              <a:rect l="l" t="t" r="r" b="b"/>
              <a:pathLst>
                <a:path w="4572000" h="823200">
                  <a:moveTo>
                    <a:pt x="0" y="0"/>
                  </a:moveTo>
                  <a:lnTo>
                    <a:pt x="4572000" y="0"/>
                  </a:lnTo>
                  <a:lnTo>
                    <a:pt x="4572000" y="823200"/>
                  </a:lnTo>
                  <a:lnTo>
                    <a:pt x="0" y="82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8218" b="-5821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572000" cy="8613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s-CO" sz="24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Administrador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720840" y="3870960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Gestionar usuarios y roles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20840" y="4803648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Gestionar productos y categorías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20840" y="5736336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Actualizar inventario y recibir alertas de vencimiento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20840" y="6669024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Registrar ventas y generar facturas en PDF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20840" y="7601712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Gestionar pedidos y generar reportes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658600" y="2468880"/>
            <a:ext cx="5897699" cy="6720754"/>
            <a:chOff x="0" y="0"/>
            <a:chExt cx="7863599" cy="896100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863586" cy="8960993"/>
            </a:xfrm>
            <a:custGeom>
              <a:avLst/>
              <a:gdLst/>
              <a:ahLst/>
              <a:cxnLst/>
              <a:rect l="l" t="t" r="r" b="b"/>
              <a:pathLst>
                <a:path w="7863586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717282" y="0"/>
                  </a:lnTo>
                  <a:cubicBezTo>
                    <a:pt x="7798053" y="0"/>
                    <a:pt x="7863586" y="65532"/>
                    <a:pt x="7863586" y="146304"/>
                  </a:cubicBezTo>
                  <a:lnTo>
                    <a:pt x="7863586" y="8814689"/>
                  </a:lnTo>
                  <a:cubicBezTo>
                    <a:pt x="7863586" y="8895461"/>
                    <a:pt x="7798053" y="8960993"/>
                    <a:pt x="7717282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00304D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2138660" y="2880360"/>
            <a:ext cx="823046" cy="823046"/>
            <a:chOff x="0" y="0"/>
            <a:chExt cx="1097394" cy="109739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789"/>
                    <a:pt x="0" y="548640"/>
                  </a:cubicBezTo>
                  <a:close/>
                </a:path>
              </a:pathLst>
            </a:custGeom>
            <a:solidFill>
              <a:srgbClr val="FDC300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352630" y="3094330"/>
            <a:ext cx="395021" cy="395021"/>
            <a:chOff x="0" y="0"/>
            <a:chExt cx="526694" cy="526694"/>
          </a:xfrm>
        </p:grpSpPr>
        <p:sp>
          <p:nvSpPr>
            <p:cNvPr id="42" name="Freeform 42" descr="icons/cloud.png"/>
            <p:cNvSpPr/>
            <p:nvPr/>
          </p:nvSpPr>
          <p:spPr>
            <a:xfrm>
              <a:off x="0" y="0"/>
              <a:ext cx="526669" cy="526669"/>
            </a:xfrm>
            <a:custGeom>
              <a:avLst/>
              <a:gdLst/>
              <a:ahLst/>
              <a:cxnLst/>
              <a:rect l="l" t="t" r="r" b="b"/>
              <a:pathLst>
                <a:path w="526669" h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4" b="-4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3167360" y="2990088"/>
            <a:ext cx="4114800" cy="617401"/>
            <a:chOff x="0" y="0"/>
            <a:chExt cx="5486400" cy="82320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486400" cy="823200"/>
            </a:xfrm>
            <a:custGeom>
              <a:avLst/>
              <a:gdLst/>
              <a:ahLst/>
              <a:cxnLst/>
              <a:rect l="l" t="t" r="r" b="b"/>
              <a:pathLst>
                <a:path w="5486400" h="823200">
                  <a:moveTo>
                    <a:pt x="0" y="0"/>
                  </a:moveTo>
                  <a:lnTo>
                    <a:pt x="5486400" y="0"/>
                  </a:lnTo>
                  <a:lnTo>
                    <a:pt x="5486400" y="823200"/>
                  </a:lnTo>
                  <a:lnTo>
                    <a:pt x="0" y="82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862" b="-7986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5486400" cy="880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s-CO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 tecnológico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2138660" y="3870960"/>
            <a:ext cx="5143500" cy="79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web adaptable (responsive)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138660" y="4803648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 de microservicios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138660" y="5736336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Base de datos relacional (15 tablas)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138660" y="6669024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Compatible con Chrome, Edge y Firefox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138660" y="7601712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Enfoque en un supermercado, adaptable a otras tiendas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987552"/>
            <a:ext cx="16184699" cy="1165946"/>
            <a:chOff x="0" y="0"/>
            <a:chExt cx="21579599" cy="15545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474" b="-220474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Conclusiones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5074920"/>
            <a:ext cx="7715250" cy="2125799"/>
            <a:chOff x="0" y="0"/>
            <a:chExt cx="10287000" cy="28343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87000" cy="2834386"/>
            </a:xfrm>
            <a:custGeom>
              <a:avLst/>
              <a:gdLst/>
              <a:ahLst/>
              <a:cxnLst/>
              <a:rect l="l" t="t" r="r" b="b"/>
              <a:pathLst>
                <a:path w="10287000" h="283438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140696" y="0"/>
                  </a:lnTo>
                  <a:cubicBezTo>
                    <a:pt x="10221468" y="0"/>
                    <a:pt x="10287000" y="65532"/>
                    <a:pt x="10287000" y="146304"/>
                  </a:cubicBezTo>
                  <a:lnTo>
                    <a:pt x="10287000" y="2688082"/>
                  </a:lnTo>
                  <a:cubicBezTo>
                    <a:pt x="10287000" y="2768854"/>
                    <a:pt x="10221468" y="2834386"/>
                    <a:pt x="10140696" y="2834386"/>
                  </a:cubicBezTo>
                  <a:lnTo>
                    <a:pt x="146304" y="2834386"/>
                  </a:lnTo>
                  <a:cubicBezTo>
                    <a:pt x="65532" y="2834386"/>
                    <a:pt x="0" y="2768854"/>
                    <a:pt x="0" y="2688082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418320" y="5692140"/>
            <a:ext cx="891454" cy="891454"/>
            <a:chOff x="0" y="0"/>
            <a:chExt cx="1188606" cy="11886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528"/>
                    <a:pt x="0" y="59436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650120" y="5923940"/>
            <a:ext cx="427939" cy="427939"/>
            <a:chOff x="0" y="0"/>
            <a:chExt cx="570586" cy="570586"/>
          </a:xfrm>
        </p:grpSpPr>
        <p:sp>
          <p:nvSpPr>
            <p:cNvPr id="11" name="Freeform 11" descr="icons/check.png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4" b="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584180" y="5321808"/>
            <a:ext cx="6069149" cy="480146"/>
            <a:chOff x="0" y="0"/>
            <a:chExt cx="8092199" cy="6401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092200" cy="640200"/>
            </a:xfrm>
            <a:custGeom>
              <a:avLst/>
              <a:gdLst/>
              <a:ahLst/>
              <a:cxnLst/>
              <a:rect l="l" t="t" r="r" b="b"/>
              <a:pathLst>
                <a:path w="8092200" h="640200">
                  <a:moveTo>
                    <a:pt x="0" y="0"/>
                  </a:moveTo>
                  <a:lnTo>
                    <a:pt x="8092200" y="0"/>
                  </a:lnTo>
                  <a:lnTo>
                    <a:pt x="80922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6293" b="-19629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092199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s-CO" sz="21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escalable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84180" y="5734705"/>
            <a:ext cx="6069149" cy="1234350"/>
            <a:chOff x="0" y="0"/>
            <a:chExt cx="8092199" cy="1645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092200" cy="1645794"/>
            </a:xfrm>
            <a:custGeom>
              <a:avLst/>
              <a:gdLst/>
              <a:ahLst/>
              <a:cxnLst/>
              <a:rect l="l" t="t" r="r" b="b"/>
              <a:pathLst>
                <a:path w="8092200" h="1645794">
                  <a:moveTo>
                    <a:pt x="0" y="0"/>
                  </a:moveTo>
                  <a:lnTo>
                    <a:pt x="8092200" y="0"/>
                  </a:lnTo>
                  <a:lnTo>
                    <a:pt x="8092200" y="1645794"/>
                  </a:lnTo>
                  <a:lnTo>
                    <a:pt x="0" y="16457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805" b="-4580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092199" cy="1693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s-CO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Microservicios independientes, base de datos de 15 tablas y desarrollo con Scrum en 3 sprints.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2960" y="2548376"/>
            <a:ext cx="16036290" cy="2125799"/>
            <a:chOff x="0" y="0"/>
            <a:chExt cx="21381720" cy="28343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381720" cy="2834386"/>
            </a:xfrm>
            <a:custGeom>
              <a:avLst/>
              <a:gdLst/>
              <a:ahLst/>
              <a:cxnLst/>
              <a:rect l="l" t="t" r="r" b="b"/>
              <a:pathLst>
                <a:path w="21381720" h="283438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235415" y="0"/>
                  </a:lnTo>
                  <a:cubicBezTo>
                    <a:pt x="21316187" y="0"/>
                    <a:pt x="21381720" y="65532"/>
                    <a:pt x="21381720" y="146304"/>
                  </a:cubicBezTo>
                  <a:lnTo>
                    <a:pt x="21381720" y="2688082"/>
                  </a:lnTo>
                  <a:cubicBezTo>
                    <a:pt x="21381720" y="2768854"/>
                    <a:pt x="21316187" y="2834386"/>
                    <a:pt x="21235415" y="2834386"/>
                  </a:cubicBezTo>
                  <a:lnTo>
                    <a:pt x="146304" y="2834386"/>
                  </a:lnTo>
                  <a:cubicBezTo>
                    <a:pt x="65532" y="2834386"/>
                    <a:pt x="0" y="2768854"/>
                    <a:pt x="0" y="2688082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97280" y="3165596"/>
            <a:ext cx="891454" cy="891454"/>
            <a:chOff x="0" y="0"/>
            <a:chExt cx="1188606" cy="118860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528"/>
                    <a:pt x="0" y="59436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2263140" y="2795264"/>
            <a:ext cx="6069149" cy="480146"/>
            <a:chOff x="0" y="0"/>
            <a:chExt cx="8092199" cy="64019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092200" cy="640200"/>
            </a:xfrm>
            <a:custGeom>
              <a:avLst/>
              <a:gdLst/>
              <a:ahLst/>
              <a:cxnLst/>
              <a:rect l="l" t="t" r="r" b="b"/>
              <a:pathLst>
                <a:path w="8092200" h="640200">
                  <a:moveTo>
                    <a:pt x="0" y="0"/>
                  </a:moveTo>
                  <a:lnTo>
                    <a:pt x="8092200" y="0"/>
                  </a:lnTo>
                  <a:lnTo>
                    <a:pt x="80922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6293" b="-19629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092199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s-CO" sz="21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 de ventas en línea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263140" y="3302756"/>
            <a:ext cx="14390189" cy="1234350"/>
            <a:chOff x="0" y="0"/>
            <a:chExt cx="19186919" cy="1645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186920" cy="1645794"/>
            </a:xfrm>
            <a:custGeom>
              <a:avLst/>
              <a:gdLst/>
              <a:ahLst/>
              <a:cxnLst/>
              <a:rect l="l" t="t" r="r" b="b"/>
              <a:pathLst>
                <a:path w="19186920" h="1645794">
                  <a:moveTo>
                    <a:pt x="0" y="0"/>
                  </a:moveTo>
                  <a:lnTo>
                    <a:pt x="19186920" y="0"/>
                  </a:lnTo>
                  <a:lnTo>
                    <a:pt x="19186920" y="1645794"/>
                  </a:lnTo>
                  <a:lnTo>
                    <a:pt x="0" y="16457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7159" b="-17715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9186919" cy="1693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s-CO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define y documenta un sistema web que centraliza productos, inventario, clientes, ventas y reportes del supermercado “La Economía”, reemplazando el registro manual en cuadernos y habilitando la venta en línea.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2960" y="5074920"/>
            <a:ext cx="7715250" cy="2125799"/>
            <a:chOff x="0" y="0"/>
            <a:chExt cx="10287000" cy="283439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287000" cy="2834386"/>
            </a:xfrm>
            <a:custGeom>
              <a:avLst/>
              <a:gdLst/>
              <a:ahLst/>
              <a:cxnLst/>
              <a:rect l="l" t="t" r="r" b="b"/>
              <a:pathLst>
                <a:path w="10287000" h="283438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140696" y="0"/>
                  </a:lnTo>
                  <a:cubicBezTo>
                    <a:pt x="10221468" y="0"/>
                    <a:pt x="10287000" y="65532"/>
                    <a:pt x="10287000" y="146304"/>
                  </a:cubicBezTo>
                  <a:lnTo>
                    <a:pt x="10287000" y="2688082"/>
                  </a:lnTo>
                  <a:cubicBezTo>
                    <a:pt x="10287000" y="2768854"/>
                    <a:pt x="10221468" y="2834386"/>
                    <a:pt x="10140696" y="2834386"/>
                  </a:cubicBezTo>
                  <a:lnTo>
                    <a:pt x="146304" y="2834386"/>
                  </a:lnTo>
                  <a:cubicBezTo>
                    <a:pt x="65532" y="2834386"/>
                    <a:pt x="0" y="2768854"/>
                    <a:pt x="0" y="2688082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097280" y="5692140"/>
            <a:ext cx="891454" cy="891454"/>
            <a:chOff x="0" y="0"/>
            <a:chExt cx="1188606" cy="118860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528"/>
                    <a:pt x="0" y="59436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329080" y="5923940"/>
            <a:ext cx="427939" cy="427939"/>
            <a:chOff x="0" y="0"/>
            <a:chExt cx="570586" cy="570586"/>
          </a:xfrm>
        </p:grpSpPr>
        <p:sp>
          <p:nvSpPr>
            <p:cNvPr id="33" name="Freeform 33" descr="icons/mobile.png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4" b="4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2263140" y="5321808"/>
            <a:ext cx="6069149" cy="480146"/>
            <a:chOff x="0" y="0"/>
            <a:chExt cx="8092199" cy="64019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092200" cy="640200"/>
            </a:xfrm>
            <a:custGeom>
              <a:avLst/>
              <a:gdLst/>
              <a:ahLst/>
              <a:cxnLst/>
              <a:rect l="l" t="t" r="r" b="b"/>
              <a:pathLst>
                <a:path w="8092200" h="640200">
                  <a:moveTo>
                    <a:pt x="0" y="0"/>
                  </a:moveTo>
                  <a:lnTo>
                    <a:pt x="8092200" y="0"/>
                  </a:lnTo>
                  <a:lnTo>
                    <a:pt x="80922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6293" b="-196292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8092199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s-CO" sz="21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Experiencia de usuario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263140" y="5792429"/>
            <a:ext cx="6069149" cy="1371419"/>
            <a:chOff x="0" y="0"/>
            <a:chExt cx="8092199" cy="182855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092200" cy="1828552"/>
            </a:xfrm>
            <a:custGeom>
              <a:avLst/>
              <a:gdLst/>
              <a:ahLst/>
              <a:cxnLst/>
              <a:rect l="l" t="t" r="r" b="b"/>
              <a:pathLst>
                <a:path w="8092200" h="1828552">
                  <a:moveTo>
                    <a:pt x="0" y="0"/>
                  </a:moveTo>
                  <a:lnTo>
                    <a:pt x="8092200" y="0"/>
                  </a:lnTo>
                  <a:lnTo>
                    <a:pt x="8092200" y="1828552"/>
                  </a:lnTo>
                  <a:lnTo>
                    <a:pt x="0" y="18285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227" b="-3123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8092199" cy="1876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s-CO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Interfaz simple e intuitiva para administradores y clientes, con respuesta en menos de 3 segundos.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22960" y="7886700"/>
            <a:ext cx="15910646" cy="1371600"/>
            <a:chOff x="0" y="0"/>
            <a:chExt cx="21214194" cy="1828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1214207" cy="1828800"/>
            </a:xfrm>
            <a:custGeom>
              <a:avLst/>
              <a:gdLst/>
              <a:ahLst/>
              <a:cxnLst/>
              <a:rect l="l" t="t" r="r" b="b"/>
              <a:pathLst>
                <a:path w="21214207" h="1828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067903" y="0"/>
                  </a:lnTo>
                  <a:cubicBezTo>
                    <a:pt x="21148675" y="0"/>
                    <a:pt x="21214207" y="65532"/>
                    <a:pt x="21214207" y="146304"/>
                  </a:cubicBezTo>
                  <a:lnTo>
                    <a:pt x="21214207" y="1682496"/>
                  </a:lnTo>
                  <a:cubicBezTo>
                    <a:pt x="21214207" y="1763268"/>
                    <a:pt x="21148675" y="1828800"/>
                    <a:pt x="21067903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FFF3D6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234440" y="7886700"/>
            <a:ext cx="15087600" cy="1371600"/>
            <a:chOff x="0" y="0"/>
            <a:chExt cx="20116800" cy="1828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0116800" cy="1828800"/>
            </a:xfrm>
            <a:custGeom>
              <a:avLst/>
              <a:gdLst/>
              <a:ahLst/>
              <a:cxnLst/>
              <a:rect l="l" t="t" r="r" b="b"/>
              <a:pathLst>
                <a:path w="20116800" h="1828800">
                  <a:moveTo>
                    <a:pt x="0" y="0"/>
                  </a:moveTo>
                  <a:lnTo>
                    <a:pt x="20116800" y="0"/>
                  </a:lnTo>
                  <a:lnTo>
                    <a:pt x="2011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0116800" cy="186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s-CO" sz="1875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Trabajo futuro:  </a:t>
              </a:r>
              <a:r>
                <a:rPr lang="es-CO" sz="1875">
                  <a:solidFill>
                    <a:srgbClr val="00304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nuevas iteraciones Scrum y ampliación de módulos (inventario, pedidos) según la demanda.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96162" y="3367321"/>
            <a:ext cx="493776" cy="493776"/>
            <a:chOff x="0" y="0"/>
            <a:chExt cx="658368" cy="658368"/>
          </a:xfrm>
        </p:grpSpPr>
        <p:sp>
          <p:nvSpPr>
            <p:cNvPr id="46" name="Freeform 46" descr="icons/server.png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576072"/>
            <a:ext cx="13716000" cy="480146"/>
            <a:chOff x="0" y="0"/>
            <a:chExt cx="18288000" cy="6401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640200"/>
            </a:xfrm>
            <a:custGeom>
              <a:avLst/>
              <a:gdLst/>
              <a:ahLst/>
              <a:cxnLst/>
              <a:rect l="l" t="t" r="r" b="b"/>
              <a:pathLst>
                <a:path w="18288000" h="640200">
                  <a:moveTo>
                    <a:pt x="0" y="0"/>
                  </a:moveTo>
                  <a:lnTo>
                    <a:pt x="18288000" y="0"/>
                  </a:lnTo>
                  <a:lnTo>
                    <a:pt x="182880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611" b="-50661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88000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39A9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IDENTIDAD CORPORATIVA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960" y="987552"/>
            <a:ext cx="16184699" cy="1165946"/>
            <a:chOff x="0" y="0"/>
            <a:chExt cx="21579599" cy="15545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474" b="-22047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Esencia de marca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2960" y="2468880"/>
            <a:ext cx="5075101" cy="6720754"/>
            <a:chOff x="0" y="0"/>
            <a:chExt cx="6766801" cy="89610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66814" cy="8960993"/>
            </a:xfrm>
            <a:custGeom>
              <a:avLst/>
              <a:gdLst/>
              <a:ahLst/>
              <a:cxnLst/>
              <a:rect l="l" t="t" r="r" b="b"/>
              <a:pathLst>
                <a:path w="6766814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510" y="0"/>
                  </a:lnTo>
                  <a:cubicBezTo>
                    <a:pt x="6701282" y="0"/>
                    <a:pt x="6766814" y="65532"/>
                    <a:pt x="6766814" y="146304"/>
                  </a:cubicBezTo>
                  <a:lnTo>
                    <a:pt x="6766814" y="8814689"/>
                  </a:lnTo>
                  <a:cubicBezTo>
                    <a:pt x="6766814" y="8895461"/>
                    <a:pt x="6701282" y="8960993"/>
                    <a:pt x="6620510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03020" y="2880360"/>
            <a:ext cx="823046" cy="823046"/>
            <a:chOff x="0" y="0"/>
            <a:chExt cx="1097394" cy="10973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789"/>
                    <a:pt x="0" y="54864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516990" y="3094330"/>
            <a:ext cx="395021" cy="395021"/>
            <a:chOff x="0" y="0"/>
            <a:chExt cx="526694" cy="526694"/>
          </a:xfrm>
        </p:grpSpPr>
        <p:sp>
          <p:nvSpPr>
            <p:cNvPr id="14" name="Freeform 14" descr="icons/users.png"/>
            <p:cNvSpPr/>
            <p:nvPr/>
          </p:nvSpPr>
          <p:spPr>
            <a:xfrm>
              <a:off x="0" y="0"/>
              <a:ext cx="526669" cy="526669"/>
            </a:xfrm>
            <a:custGeom>
              <a:avLst/>
              <a:gdLst/>
              <a:ahLst/>
              <a:cxnLst/>
              <a:rect l="l" t="t" r="r" b="b"/>
              <a:pathLst>
                <a:path w="526669" h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" b="-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331720" y="2990088"/>
            <a:ext cx="3291754" cy="617401"/>
            <a:chOff x="0" y="0"/>
            <a:chExt cx="4389006" cy="823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89000" cy="823200"/>
            </a:xfrm>
            <a:custGeom>
              <a:avLst/>
              <a:gdLst/>
              <a:ahLst/>
              <a:cxnLst/>
              <a:rect l="l" t="t" r="r" b="b"/>
              <a:pathLst>
                <a:path w="4389000" h="823200">
                  <a:moveTo>
                    <a:pt x="0" y="0"/>
                  </a:moveTo>
                  <a:lnTo>
                    <a:pt x="4389000" y="0"/>
                  </a:lnTo>
                  <a:lnTo>
                    <a:pt x="4389000" y="823200"/>
                  </a:lnTo>
                  <a:lnTo>
                    <a:pt x="0" y="82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887" b="-5388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389006" cy="8613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s-CO" sz="24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Misión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03020" y="3870960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Experiencia de compra ágil, accesible y confiable para las familias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3020" y="4803648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Cercanía de un supermercado tradicional con plataforma digital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3020" y="5736336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Productos de calidad al mejor precio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3020" y="6669024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 de ventas en línea intuitivo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3020" y="7601712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 rápidas y satisfacción total del cliente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240780" y="2468880"/>
            <a:ext cx="5075101" cy="6720754"/>
            <a:chOff x="0" y="0"/>
            <a:chExt cx="6766801" cy="89610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766814" cy="8960993"/>
            </a:xfrm>
            <a:custGeom>
              <a:avLst/>
              <a:gdLst/>
              <a:ahLst/>
              <a:cxnLst/>
              <a:rect l="l" t="t" r="r" b="b"/>
              <a:pathLst>
                <a:path w="6766814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510" y="0"/>
                  </a:lnTo>
                  <a:cubicBezTo>
                    <a:pt x="6701282" y="0"/>
                    <a:pt x="6766814" y="65532"/>
                    <a:pt x="6766814" y="146304"/>
                  </a:cubicBezTo>
                  <a:lnTo>
                    <a:pt x="6766814" y="8814689"/>
                  </a:lnTo>
                  <a:cubicBezTo>
                    <a:pt x="6766814" y="8895461"/>
                    <a:pt x="6701282" y="8960993"/>
                    <a:pt x="6620510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720840" y="2880360"/>
            <a:ext cx="823046" cy="823046"/>
            <a:chOff x="0" y="0"/>
            <a:chExt cx="1097394" cy="109739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789"/>
                    <a:pt x="0" y="54864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6934810" y="3094330"/>
            <a:ext cx="395021" cy="395021"/>
            <a:chOff x="0" y="0"/>
            <a:chExt cx="526694" cy="526694"/>
          </a:xfrm>
        </p:grpSpPr>
        <p:sp>
          <p:nvSpPr>
            <p:cNvPr id="28" name="Freeform 28" descr="icons/cogs.png"/>
            <p:cNvSpPr/>
            <p:nvPr/>
          </p:nvSpPr>
          <p:spPr>
            <a:xfrm>
              <a:off x="0" y="0"/>
              <a:ext cx="526669" cy="526669"/>
            </a:xfrm>
            <a:custGeom>
              <a:avLst/>
              <a:gdLst/>
              <a:ahLst/>
              <a:cxnLst/>
              <a:rect l="l" t="t" r="r" b="b"/>
              <a:pathLst>
                <a:path w="526669" h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4" b="-4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7749540" y="2990088"/>
            <a:ext cx="3429000" cy="617401"/>
            <a:chOff x="0" y="0"/>
            <a:chExt cx="4572000" cy="82320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72000" cy="823200"/>
            </a:xfrm>
            <a:custGeom>
              <a:avLst/>
              <a:gdLst/>
              <a:ahLst/>
              <a:cxnLst/>
              <a:rect l="l" t="t" r="r" b="b"/>
              <a:pathLst>
                <a:path w="4572000" h="823200">
                  <a:moveTo>
                    <a:pt x="0" y="0"/>
                  </a:moveTo>
                  <a:lnTo>
                    <a:pt x="4572000" y="0"/>
                  </a:lnTo>
                  <a:lnTo>
                    <a:pt x="4572000" y="823200"/>
                  </a:lnTo>
                  <a:lnTo>
                    <a:pt x="0" y="82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8218" b="-5821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572000" cy="8613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s-CO" sz="24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Visión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720840" y="3870960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Supermercado de referencia a nivel local en ventas en línea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20840" y="4803648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Eficiencia de nuestra plataforma digital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20840" y="5736336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Calidad del servicio a domicilio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20840" y="6669024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Crecimiento constante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20840" y="7601712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Fidelización de los clientes de la zona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658600" y="2468880"/>
            <a:ext cx="5897699" cy="6720754"/>
            <a:chOff x="0" y="0"/>
            <a:chExt cx="7863599" cy="896100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863586" cy="8960993"/>
            </a:xfrm>
            <a:custGeom>
              <a:avLst/>
              <a:gdLst/>
              <a:ahLst/>
              <a:cxnLst/>
              <a:rect l="l" t="t" r="r" b="b"/>
              <a:pathLst>
                <a:path w="7863586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717282" y="0"/>
                  </a:lnTo>
                  <a:cubicBezTo>
                    <a:pt x="7798053" y="0"/>
                    <a:pt x="7863586" y="65532"/>
                    <a:pt x="7863586" y="146304"/>
                  </a:cubicBezTo>
                  <a:lnTo>
                    <a:pt x="7863586" y="8814689"/>
                  </a:lnTo>
                  <a:cubicBezTo>
                    <a:pt x="7863586" y="8895461"/>
                    <a:pt x="7798053" y="8960993"/>
                    <a:pt x="7717282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00304D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2138660" y="2880360"/>
            <a:ext cx="823046" cy="823046"/>
            <a:chOff x="0" y="0"/>
            <a:chExt cx="1097394" cy="109739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789"/>
                    <a:pt x="0" y="548640"/>
                  </a:cubicBezTo>
                  <a:close/>
                </a:path>
              </a:pathLst>
            </a:custGeom>
            <a:solidFill>
              <a:srgbClr val="FDC300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352630" y="3094330"/>
            <a:ext cx="395021" cy="395021"/>
            <a:chOff x="0" y="0"/>
            <a:chExt cx="526694" cy="526694"/>
          </a:xfrm>
        </p:grpSpPr>
        <p:sp>
          <p:nvSpPr>
            <p:cNvPr id="42" name="Freeform 42" descr="icons/cloud.png"/>
            <p:cNvSpPr/>
            <p:nvPr/>
          </p:nvSpPr>
          <p:spPr>
            <a:xfrm>
              <a:off x="0" y="0"/>
              <a:ext cx="526669" cy="526669"/>
            </a:xfrm>
            <a:custGeom>
              <a:avLst/>
              <a:gdLst/>
              <a:ahLst/>
              <a:cxnLst/>
              <a:rect l="l" t="t" r="r" b="b"/>
              <a:pathLst>
                <a:path w="526669" h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4" b="-4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3167360" y="2990088"/>
            <a:ext cx="4114800" cy="617401"/>
            <a:chOff x="0" y="0"/>
            <a:chExt cx="5486400" cy="82320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486400" cy="823200"/>
            </a:xfrm>
            <a:custGeom>
              <a:avLst/>
              <a:gdLst/>
              <a:ahLst/>
              <a:cxnLst/>
              <a:rect l="l" t="t" r="r" b="b"/>
              <a:pathLst>
                <a:path w="5486400" h="823200">
                  <a:moveTo>
                    <a:pt x="0" y="0"/>
                  </a:moveTo>
                  <a:lnTo>
                    <a:pt x="5486400" y="0"/>
                  </a:lnTo>
                  <a:lnTo>
                    <a:pt x="5486400" y="823200"/>
                  </a:lnTo>
                  <a:lnTo>
                    <a:pt x="0" y="82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862" b="-7986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5486400" cy="880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s-CO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Valores corporativos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2138660" y="3867912"/>
            <a:ext cx="5143500" cy="79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 xml:space="preserve">Eficiencia: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optimización de los procesos de ventas e inventario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138660" y="4736592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 xml:space="preserve">Confiabilidad: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precisión y seguridad de la información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138660" y="5605272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 xml:space="preserve">Innovación: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soluciones tecnológicas modernas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138660" y="6473952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 xml:space="preserve">Accesibilidad: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facilidad de uso para todo tipo de usuarios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138660" y="7342632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 xml:space="preserve">Responsabilidad: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manejo seguro de los datos del negocio</a:t>
            </a:r>
          </a:p>
        </p:txBody>
      </p:sp>
      <p:sp>
        <p:nvSpPr>
          <p:cNvPr id="950" name="TextBox 950"/>
          <p:cNvSpPr txBox="1"/>
          <p:nvPr/>
        </p:nvSpPr>
        <p:spPr>
          <a:xfrm>
            <a:off x="12138660" y="8211312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 xml:space="preserve">Adaptabilidad: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se ajusta a diferentes tipos de tienda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576072"/>
            <a:ext cx="13716000" cy="480146"/>
            <a:chOff x="0" y="0"/>
            <a:chExt cx="18288000" cy="6401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640200"/>
            </a:xfrm>
            <a:custGeom>
              <a:avLst/>
              <a:gdLst/>
              <a:ahLst/>
              <a:cxnLst/>
              <a:rect l="l" t="t" r="r" b="b"/>
              <a:pathLst>
                <a:path w="18288000" h="640200">
                  <a:moveTo>
                    <a:pt x="0" y="0"/>
                  </a:moveTo>
                  <a:lnTo>
                    <a:pt x="18288000" y="0"/>
                  </a:lnTo>
                  <a:lnTo>
                    <a:pt x="182880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611" b="-50661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88000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39A9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960" y="987552"/>
            <a:ext cx="16184699" cy="1165946"/>
            <a:chOff x="0" y="0"/>
            <a:chExt cx="21579599" cy="15545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474" b="-22047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Desarrollo ágil con Scrum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2960" y="2468880"/>
            <a:ext cx="5075101" cy="6720754"/>
            <a:chOff x="0" y="0"/>
            <a:chExt cx="6766801" cy="89610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66814" cy="8960993"/>
            </a:xfrm>
            <a:custGeom>
              <a:avLst/>
              <a:gdLst/>
              <a:ahLst/>
              <a:cxnLst/>
              <a:rect l="l" t="t" r="r" b="b"/>
              <a:pathLst>
                <a:path w="6766814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510" y="0"/>
                  </a:lnTo>
                  <a:cubicBezTo>
                    <a:pt x="6701282" y="0"/>
                    <a:pt x="6766814" y="65532"/>
                    <a:pt x="6766814" y="146304"/>
                  </a:cubicBezTo>
                  <a:lnTo>
                    <a:pt x="6766814" y="8814689"/>
                  </a:lnTo>
                  <a:cubicBezTo>
                    <a:pt x="6766814" y="8895461"/>
                    <a:pt x="6701282" y="8960993"/>
                    <a:pt x="6620510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03020" y="2880360"/>
            <a:ext cx="823046" cy="823046"/>
            <a:chOff x="0" y="0"/>
            <a:chExt cx="1097394" cy="10973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789"/>
                    <a:pt x="0" y="54864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516990" y="3094330"/>
            <a:ext cx="395021" cy="395021"/>
            <a:chOff x="0" y="0"/>
            <a:chExt cx="526694" cy="526694"/>
          </a:xfrm>
        </p:grpSpPr>
        <p:sp>
          <p:nvSpPr>
            <p:cNvPr id="14" name="Freeform 14" descr="icons/users.png"/>
            <p:cNvSpPr/>
            <p:nvPr/>
          </p:nvSpPr>
          <p:spPr>
            <a:xfrm>
              <a:off x="0" y="0"/>
              <a:ext cx="526669" cy="526669"/>
            </a:xfrm>
            <a:custGeom>
              <a:avLst/>
              <a:gdLst/>
              <a:ahLst/>
              <a:cxnLst/>
              <a:rect l="l" t="t" r="r" b="b"/>
              <a:pathLst>
                <a:path w="526669" h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" b="-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331720" y="2990088"/>
            <a:ext cx="3291754" cy="617401"/>
            <a:chOff x="0" y="0"/>
            <a:chExt cx="4389006" cy="823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89000" cy="823200"/>
            </a:xfrm>
            <a:custGeom>
              <a:avLst/>
              <a:gdLst/>
              <a:ahLst/>
              <a:cxnLst/>
              <a:rect l="l" t="t" r="r" b="b"/>
              <a:pathLst>
                <a:path w="4389000" h="823200">
                  <a:moveTo>
                    <a:pt x="0" y="0"/>
                  </a:moveTo>
                  <a:lnTo>
                    <a:pt x="4389000" y="0"/>
                  </a:lnTo>
                  <a:lnTo>
                    <a:pt x="4389000" y="823200"/>
                  </a:lnTo>
                  <a:lnTo>
                    <a:pt x="0" y="82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887" b="-5388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389006" cy="8613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s-CO" sz="24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Sprint 1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03020" y="3870960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 b="1">
                <a:solidFill>
                  <a:srgbClr val="222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Cimientos y gestión de inventario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3020" y="4803648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Objetivo: dejar operativo el registro y control de productos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3020" y="5736336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Base de datos y estructura MVC configuradas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3020" y="6669024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Interfaz de usuario diseñada en HTML y CSS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3020" y="7601712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Resultado: alta, modificación y listado de productos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240780" y="2468880"/>
            <a:ext cx="5075101" cy="6720754"/>
            <a:chOff x="0" y="0"/>
            <a:chExt cx="6766801" cy="89610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766814" cy="8960993"/>
            </a:xfrm>
            <a:custGeom>
              <a:avLst/>
              <a:gdLst/>
              <a:ahLst/>
              <a:cxnLst/>
              <a:rect l="l" t="t" r="r" b="b"/>
              <a:pathLst>
                <a:path w="6766814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510" y="0"/>
                  </a:lnTo>
                  <a:cubicBezTo>
                    <a:pt x="6701282" y="0"/>
                    <a:pt x="6766814" y="65532"/>
                    <a:pt x="6766814" y="146304"/>
                  </a:cubicBezTo>
                  <a:lnTo>
                    <a:pt x="6766814" y="8814689"/>
                  </a:lnTo>
                  <a:cubicBezTo>
                    <a:pt x="6766814" y="8895461"/>
                    <a:pt x="6701282" y="8960993"/>
                    <a:pt x="6620510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720840" y="2880360"/>
            <a:ext cx="823046" cy="823046"/>
            <a:chOff x="0" y="0"/>
            <a:chExt cx="1097394" cy="109739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789"/>
                    <a:pt x="0" y="548640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6934810" y="3094330"/>
            <a:ext cx="395021" cy="395021"/>
            <a:chOff x="0" y="0"/>
            <a:chExt cx="526694" cy="526694"/>
          </a:xfrm>
        </p:grpSpPr>
        <p:sp>
          <p:nvSpPr>
            <p:cNvPr id="28" name="Freeform 28" descr="icons/cogs.png"/>
            <p:cNvSpPr/>
            <p:nvPr/>
          </p:nvSpPr>
          <p:spPr>
            <a:xfrm>
              <a:off x="0" y="0"/>
              <a:ext cx="526669" cy="526669"/>
            </a:xfrm>
            <a:custGeom>
              <a:avLst/>
              <a:gdLst/>
              <a:ahLst/>
              <a:cxnLst/>
              <a:rect l="l" t="t" r="r" b="b"/>
              <a:pathLst>
                <a:path w="526669" h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4" b="-4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7749540" y="2990088"/>
            <a:ext cx="3429000" cy="617401"/>
            <a:chOff x="0" y="0"/>
            <a:chExt cx="4572000" cy="82320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72000" cy="823200"/>
            </a:xfrm>
            <a:custGeom>
              <a:avLst/>
              <a:gdLst/>
              <a:ahLst/>
              <a:cxnLst/>
              <a:rect l="l" t="t" r="r" b="b"/>
              <a:pathLst>
                <a:path w="4572000" h="823200">
                  <a:moveTo>
                    <a:pt x="0" y="0"/>
                  </a:moveTo>
                  <a:lnTo>
                    <a:pt x="4572000" y="0"/>
                  </a:lnTo>
                  <a:lnTo>
                    <a:pt x="4572000" y="823200"/>
                  </a:lnTo>
                  <a:lnTo>
                    <a:pt x="0" y="82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8218" b="-5821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572000" cy="8613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s-CO" sz="240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Sprint 2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720840" y="3870960"/>
            <a:ext cx="418319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 b="1">
                <a:solidFill>
                  <a:srgbClr val="222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Gestión de clientes y facturación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20840" y="4803648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Objetivo: desarrollar el flujo de ventas conectado al inventario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20840" y="5736336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Lógica de negocio conectada a la base de datos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20840" y="6669024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Descuento automático de stock al facturar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20840" y="7601712"/>
            <a:ext cx="418319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39A9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rPr>
              <a:t>Resultado: módulo de facturación y registro de clientes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658600" y="2468880"/>
            <a:ext cx="5897699" cy="6720754"/>
            <a:chOff x="0" y="0"/>
            <a:chExt cx="7863599" cy="896100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863586" cy="8960993"/>
            </a:xfrm>
            <a:custGeom>
              <a:avLst/>
              <a:gdLst/>
              <a:ahLst/>
              <a:cxnLst/>
              <a:rect l="l" t="t" r="r" b="b"/>
              <a:pathLst>
                <a:path w="7863586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717282" y="0"/>
                  </a:lnTo>
                  <a:cubicBezTo>
                    <a:pt x="7798053" y="0"/>
                    <a:pt x="7863586" y="65532"/>
                    <a:pt x="7863586" y="146304"/>
                  </a:cubicBezTo>
                  <a:lnTo>
                    <a:pt x="7863586" y="8814689"/>
                  </a:lnTo>
                  <a:cubicBezTo>
                    <a:pt x="7863586" y="8895461"/>
                    <a:pt x="7798053" y="8960993"/>
                    <a:pt x="7717282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00304D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2138660" y="2880360"/>
            <a:ext cx="823046" cy="823046"/>
            <a:chOff x="0" y="0"/>
            <a:chExt cx="1097394" cy="109739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789"/>
                    <a:pt x="0" y="548640"/>
                  </a:cubicBezTo>
                  <a:close/>
                </a:path>
              </a:pathLst>
            </a:custGeom>
            <a:solidFill>
              <a:srgbClr val="FDC300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352630" y="3094330"/>
            <a:ext cx="395021" cy="395021"/>
            <a:chOff x="0" y="0"/>
            <a:chExt cx="526694" cy="526694"/>
          </a:xfrm>
        </p:grpSpPr>
        <p:sp>
          <p:nvSpPr>
            <p:cNvPr id="42" name="Freeform 42" descr="icons/cloud.png"/>
            <p:cNvSpPr/>
            <p:nvPr/>
          </p:nvSpPr>
          <p:spPr>
            <a:xfrm>
              <a:off x="0" y="0"/>
              <a:ext cx="526669" cy="526669"/>
            </a:xfrm>
            <a:custGeom>
              <a:avLst/>
              <a:gdLst/>
              <a:ahLst/>
              <a:cxnLst/>
              <a:rect l="l" t="t" r="r" b="b"/>
              <a:pathLst>
                <a:path w="526669" h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4" b="-4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3167360" y="2990088"/>
            <a:ext cx="4114800" cy="617401"/>
            <a:chOff x="0" y="0"/>
            <a:chExt cx="5486400" cy="82320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486400" cy="823200"/>
            </a:xfrm>
            <a:custGeom>
              <a:avLst/>
              <a:gdLst/>
              <a:ahLst/>
              <a:cxnLst/>
              <a:rect l="l" t="t" r="r" b="b"/>
              <a:pathLst>
                <a:path w="5486400" h="823200">
                  <a:moveTo>
                    <a:pt x="0" y="0"/>
                  </a:moveTo>
                  <a:lnTo>
                    <a:pt x="5486400" y="0"/>
                  </a:lnTo>
                  <a:lnTo>
                    <a:pt x="5486400" y="823200"/>
                  </a:lnTo>
                  <a:lnTo>
                    <a:pt x="0" y="82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862" b="-7986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5486400" cy="880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s-CO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Sprint 3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2138660" y="3870960"/>
            <a:ext cx="5143500" cy="79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 b="1">
                <a:solidFill>
                  <a:srgbClr val="E4EEF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Reportes, pruebas y despliegue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138660" y="4803648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Objetivo: completar el sistema y validarlo de forma integral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138660" y="5736336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Reportes de ventas mediante consultas SQL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138660" y="6669024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Pruebas de aceptación con el usuario final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138660" y="7601712"/>
            <a:ext cx="5143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s-CO" sz="1725" b="1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s-CO" sz="1725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Resultado: sistema estable, listo para uso operativo y futuras iteraciones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576072"/>
            <a:ext cx="13716000" cy="480146"/>
            <a:chOff x="0" y="0"/>
            <a:chExt cx="18288000" cy="6401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640200"/>
            </a:xfrm>
            <a:custGeom>
              <a:avLst/>
              <a:gdLst/>
              <a:ahLst/>
              <a:cxnLst/>
              <a:rect l="l" t="t" r="r" b="b"/>
              <a:pathLst>
                <a:path w="18288000" h="640200">
                  <a:moveTo>
                    <a:pt x="0" y="0"/>
                  </a:moveTo>
                  <a:lnTo>
                    <a:pt x="18288000" y="0"/>
                  </a:lnTo>
                  <a:lnTo>
                    <a:pt x="182880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611" b="-50661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88000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39A9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MODELADO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960" y="987552"/>
            <a:ext cx="16184699" cy="1165946"/>
            <a:chOff x="0" y="0"/>
            <a:chExt cx="21579599" cy="15545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474" b="-22047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Diagrama de casos de uso</a:t>
              </a:r>
            </a:p>
          </p:txBody>
        </p:sp>
      </p:grpSp>
      <p:sp>
        <p:nvSpPr>
          <p:cNvPr id="910" name="Tarjeta diagrama"/>
          <p:cNvSpPr/>
          <p:nvPr/>
        </p:nvSpPr>
        <p:spPr>
          <a:xfrm>
            <a:off x="822960" y="2468880"/>
            <a:ext cx="9966960" cy="6720840"/>
          </a:xfrm>
          <a:prstGeom prst="roundRect">
            <a:avLst>
              <a:gd name="adj" fmla="val 2500"/>
            </a:avLst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911" name="Diagrama" descr="Diagrama de casos de uso del sistema de ventas y gestión de inventario, con los actores Cliente y Administrador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4112" y="2651760"/>
            <a:ext cx="9524656" cy="6355080"/>
          </a:xfrm>
          <a:prstGeom prst="rect">
            <a:avLst/>
          </a:prstGeom>
        </p:spPr>
      </p:pic>
      <p:sp>
        <p:nvSpPr>
          <p:cNvPr id="912" name="Panel"/>
          <p:cNvSpPr/>
          <p:nvPr/>
        </p:nvSpPr>
        <p:spPr>
          <a:xfrm>
            <a:off x="11064240" y="2468880"/>
            <a:ext cx="6400800" cy="6720840"/>
          </a:xfrm>
          <a:prstGeom prst="roundRect">
            <a:avLst>
              <a:gd name="adj" fmla="val 2500"/>
            </a:avLst>
          </a:prstGeom>
          <a:solidFill>
            <a:srgbClr val="00304D"/>
          </a:solidFill>
          <a:ln>
            <a:noFill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13" name="Panel titulo"/>
          <p:cNvSpPr txBox="1"/>
          <p:nvPr/>
        </p:nvSpPr>
        <p:spPr>
          <a:xfrm>
            <a:off x="11521440" y="2926080"/>
            <a:ext cx="5486400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725" b="1" dirty="0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ACTORES Y FUNCIONES</a:t>
            </a:r>
          </a:p>
        </p:txBody>
      </p:sp>
      <p:sp>
        <p:nvSpPr>
          <p:cNvPr id="920" name="Panel item 1"/>
          <p:cNvSpPr txBox="1"/>
          <p:nvPr/>
        </p:nvSpPr>
        <p:spPr>
          <a:xfrm>
            <a:off x="11521440" y="3611880"/>
            <a:ext cx="5486400" cy="1600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Cliente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lang="es-CO" sz="1725" b="0" dirty="0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Se registra o inicia sesión, consulta productos, los agrega al carrito, realiza la compra y revisa su historial.</a:t>
            </a:r>
          </a:p>
        </p:txBody>
      </p:sp>
      <p:sp>
        <p:nvSpPr>
          <p:cNvPr id="921" name="Panel item 2"/>
          <p:cNvSpPr txBox="1"/>
          <p:nvPr/>
        </p:nvSpPr>
        <p:spPr>
          <a:xfrm>
            <a:off x="11521440" y="5394960"/>
            <a:ext cx="5486400" cy="1600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Administrador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lang="es-CO" sz="1725" b="0" dirty="0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Gestiona productos, inventario, ventas, clientes y reportes del supermercado.</a:t>
            </a:r>
          </a:p>
        </p:txBody>
      </p:sp>
      <p:sp>
        <p:nvSpPr>
          <p:cNvPr id="922" name="Panel item 3"/>
          <p:cNvSpPr txBox="1"/>
          <p:nvPr/>
        </p:nvSpPr>
        <p:spPr>
          <a:xfrm>
            <a:off x="11521440" y="7178040"/>
            <a:ext cx="5486400" cy="1600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Proceso de compra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lang="es-CO" sz="1725" b="0" dirty="0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Incluye seleccionar el método de pago, confirmar el pedido y generar el comprobante.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576072"/>
            <a:ext cx="13716000" cy="480146"/>
            <a:chOff x="0" y="0"/>
            <a:chExt cx="18288000" cy="6401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640200"/>
            </a:xfrm>
            <a:custGeom>
              <a:avLst/>
              <a:gdLst/>
              <a:ahLst/>
              <a:cxnLst/>
              <a:rect l="l" t="t" r="r" b="b"/>
              <a:pathLst>
                <a:path w="18288000" h="640200">
                  <a:moveTo>
                    <a:pt x="0" y="0"/>
                  </a:moveTo>
                  <a:lnTo>
                    <a:pt x="18288000" y="0"/>
                  </a:lnTo>
                  <a:lnTo>
                    <a:pt x="182880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611" b="-50661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88000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39A9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960" y="987552"/>
            <a:ext cx="16184699" cy="1165946"/>
            <a:chOff x="0" y="0"/>
            <a:chExt cx="21579599" cy="15545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474" b="-22047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Arquitectura de microservicios</a:t>
              </a:r>
            </a:p>
          </p:txBody>
        </p:sp>
      </p:grpSp>
      <p:sp>
        <p:nvSpPr>
          <p:cNvPr id="910" name="Tarjeta diagrama"/>
          <p:cNvSpPr/>
          <p:nvPr/>
        </p:nvSpPr>
        <p:spPr>
          <a:xfrm>
            <a:off x="822960" y="2468880"/>
            <a:ext cx="9966960" cy="6720840"/>
          </a:xfrm>
          <a:prstGeom prst="roundRect">
            <a:avLst>
              <a:gd name="adj" fmla="val 2500"/>
            </a:avLst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911" name="Diagrama" descr="Diagrama de arquitectura de microservicios: cliente, API Gateway, servicios en .NET Core, base de datos SQL Server e infraestructura de soport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6461" y="2651760"/>
            <a:ext cx="9539958" cy="6355080"/>
          </a:xfrm>
          <a:prstGeom prst="rect">
            <a:avLst/>
          </a:prstGeom>
        </p:spPr>
      </p:pic>
      <p:sp>
        <p:nvSpPr>
          <p:cNvPr id="912" name="Panel"/>
          <p:cNvSpPr/>
          <p:nvPr/>
        </p:nvSpPr>
        <p:spPr>
          <a:xfrm>
            <a:off x="11064240" y="2468880"/>
            <a:ext cx="6400800" cy="6720840"/>
          </a:xfrm>
          <a:prstGeom prst="roundRect">
            <a:avLst>
              <a:gd name="adj" fmla="val 2500"/>
            </a:avLst>
          </a:prstGeom>
          <a:solidFill>
            <a:srgbClr val="00304D"/>
          </a:solidFill>
          <a:ln>
            <a:noFill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13" name="Panel titulo"/>
          <p:cNvSpPr txBox="1"/>
          <p:nvPr/>
        </p:nvSpPr>
        <p:spPr>
          <a:xfrm>
            <a:off x="11521440" y="2926080"/>
            <a:ext cx="5486400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725" b="1" dirty="0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COMPONENTES CLAVE</a:t>
            </a:r>
          </a:p>
        </p:txBody>
      </p:sp>
      <p:sp>
        <p:nvSpPr>
          <p:cNvPr id="920" name="Panel item 1"/>
          <p:cNvSpPr txBox="1"/>
          <p:nvPr/>
        </p:nvSpPr>
        <p:spPr>
          <a:xfrm>
            <a:off x="11521440" y="3611880"/>
            <a:ext cx="5486400" cy="1154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API Gateway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lang="es-CO" sz="1725" b="0" dirty="0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Punto de entrada único: autenticación, autorización, balanceo de carga y enrutamiento.</a:t>
            </a:r>
          </a:p>
        </p:txBody>
      </p:sp>
      <p:sp>
        <p:nvSpPr>
          <p:cNvPr id="921" name="Panel item 2"/>
          <p:cNvSpPr txBox="1"/>
          <p:nvPr/>
        </p:nvSpPr>
        <p:spPr>
          <a:xfrm>
            <a:off x="11521440" y="4949190"/>
            <a:ext cx="5486400" cy="1154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Microservicios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lang="es-CO" sz="1725" b="0" dirty="0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Usuarios, productos, ventas, clientes y proveedores, independientes y escalables.</a:t>
            </a:r>
          </a:p>
        </p:txBody>
      </p:sp>
      <p:sp>
        <p:nvSpPr>
          <p:cNvPr id="922" name="Panel item 3"/>
          <p:cNvSpPr txBox="1"/>
          <p:nvPr/>
        </p:nvSpPr>
        <p:spPr>
          <a:xfrm>
            <a:off x="11521440" y="6286500"/>
            <a:ext cx="5486400" cy="1154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Datos y soporte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lang="es-CO" sz="1725" b="0" dirty="0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SQL Server, Docker, Kubernetes, Redis y despliegue en la nube.</a:t>
            </a:r>
          </a:p>
        </p:txBody>
      </p:sp>
      <p:sp>
        <p:nvSpPr>
          <p:cNvPr id="923" name="Panel item 4"/>
          <p:cNvSpPr txBox="1"/>
          <p:nvPr/>
        </p:nvSpPr>
        <p:spPr>
          <a:xfrm>
            <a:off x="11521440" y="7623810"/>
            <a:ext cx="5486400" cy="1154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Patrón MVC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lang="es-CO" sz="1725" b="0" dirty="0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Mantiene ordenado el código de cada microservicio.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576072"/>
            <a:ext cx="13716000" cy="480146"/>
            <a:chOff x="0" y="0"/>
            <a:chExt cx="18288000" cy="6401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640200"/>
            </a:xfrm>
            <a:custGeom>
              <a:avLst/>
              <a:gdLst/>
              <a:ahLst/>
              <a:cxnLst/>
              <a:rect l="l" t="t" r="r" b="b"/>
              <a:pathLst>
                <a:path w="18288000" h="640200">
                  <a:moveTo>
                    <a:pt x="0" y="0"/>
                  </a:moveTo>
                  <a:lnTo>
                    <a:pt x="18288000" y="0"/>
                  </a:lnTo>
                  <a:lnTo>
                    <a:pt x="182880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611" b="-50661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88000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39A9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DE DATOS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960" y="987552"/>
            <a:ext cx="16184699" cy="1165946"/>
            <a:chOff x="0" y="0"/>
            <a:chExt cx="21579599" cy="15545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474" b="-22047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Modelo relacional</a:t>
              </a:r>
            </a:p>
          </p:txBody>
        </p:sp>
      </p:grpSp>
      <p:sp>
        <p:nvSpPr>
          <p:cNvPr id="910" name="Tarjeta diagrama"/>
          <p:cNvSpPr/>
          <p:nvPr/>
        </p:nvSpPr>
        <p:spPr>
          <a:xfrm>
            <a:off x="822960" y="2468880"/>
            <a:ext cx="11155680" cy="6720840"/>
          </a:xfrm>
          <a:prstGeom prst="roundRect">
            <a:avLst>
              <a:gd name="adj" fmla="val 2500"/>
            </a:avLst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911" name="Diagrama" descr="Modelo relacional de la base de datos con las 15 tablas del sistema y sus relacione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5840" y="2927133"/>
            <a:ext cx="10789920" cy="5804334"/>
          </a:xfrm>
          <a:prstGeom prst="rect">
            <a:avLst/>
          </a:prstGeom>
        </p:spPr>
      </p:pic>
      <p:sp>
        <p:nvSpPr>
          <p:cNvPr id="912" name="Panel"/>
          <p:cNvSpPr/>
          <p:nvPr/>
        </p:nvSpPr>
        <p:spPr>
          <a:xfrm>
            <a:off x="12252960" y="2468880"/>
            <a:ext cx="5212080" cy="6720840"/>
          </a:xfrm>
          <a:prstGeom prst="roundRect">
            <a:avLst>
              <a:gd name="adj" fmla="val 2500"/>
            </a:avLst>
          </a:prstGeom>
          <a:solidFill>
            <a:srgbClr val="00304D"/>
          </a:solidFill>
          <a:ln>
            <a:noFill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13" name="Panel titulo"/>
          <p:cNvSpPr txBox="1"/>
          <p:nvPr/>
        </p:nvSpPr>
        <p:spPr>
          <a:xfrm>
            <a:off x="12710160" y="2926080"/>
            <a:ext cx="4297680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725" b="1" dirty="0">
                <a:solidFill>
                  <a:srgbClr val="FDC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DICCIONARIO DE DATOS</a:t>
            </a:r>
          </a:p>
        </p:txBody>
      </p:sp>
      <p:sp>
        <p:nvSpPr>
          <p:cNvPr id="920" name="Panel item 1"/>
          <p:cNvSpPr txBox="1"/>
          <p:nvPr/>
        </p:nvSpPr>
        <p:spPr>
          <a:xfrm>
            <a:off x="12710160" y="3611880"/>
            <a:ext cx="4297680" cy="1600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 tablas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lang="es-CO" sz="1725" b="0" dirty="0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Usuarios y roles, productos, ventas, inventario, facturas, envíos, devoluciones y auditoría.</a:t>
            </a:r>
          </a:p>
        </p:txBody>
      </p:sp>
      <p:sp>
        <p:nvSpPr>
          <p:cNvPr id="921" name="Panel item 2"/>
          <p:cNvSpPr txBox="1"/>
          <p:nvPr/>
        </p:nvSpPr>
        <p:spPr>
          <a:xfrm>
            <a:off x="12710160" y="5394960"/>
            <a:ext cx="4297680" cy="1600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16 relaciones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lang="es-CO" sz="1725" b="0" dirty="0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Claves foráneas entre tablas con cardinalidad N:1 y 1:1.</a:t>
            </a:r>
          </a:p>
        </p:txBody>
      </p:sp>
      <p:sp>
        <p:nvSpPr>
          <p:cNvPr id="922" name="Panel item 3"/>
          <p:cNvSpPr txBox="1"/>
          <p:nvPr/>
        </p:nvSpPr>
        <p:spPr>
          <a:xfrm>
            <a:off x="12710160" y="7178040"/>
            <a:ext cx="4297680" cy="1600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Nomenclatura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lang="es-CO" sz="1725" b="0" dirty="0">
                <a:solidFill>
                  <a:srgbClr val="E4EEF3"/>
                </a:solidFill>
                <a:latin typeface="Calibri (MS)"/>
                <a:ea typeface="Calibri (MS)"/>
                <a:cs typeface="Calibri (MS)"/>
                <a:sym typeface="Calibri (MS)"/>
              </a:rPr>
              <a:t>camelCase, alineada con las columnas de la base de datos.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576072"/>
            <a:ext cx="13716000" cy="480150"/>
            <a:chOff x="0" y="0"/>
            <a:chExt cx="18288000" cy="640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640206"/>
            </a:xfrm>
            <a:custGeom>
              <a:avLst/>
              <a:gdLst/>
              <a:ahLst/>
              <a:cxnLst/>
              <a:rect l="l" t="t" r="r" b="b"/>
              <a:pathLst>
                <a:path w="18288000" h="640206">
                  <a:moveTo>
                    <a:pt x="0" y="0"/>
                  </a:moveTo>
                  <a:lnTo>
                    <a:pt x="18288000" y="0"/>
                  </a:lnTo>
                  <a:lnTo>
                    <a:pt x="18288000" y="640206"/>
                  </a:lnTo>
                  <a:lnTo>
                    <a:pt x="0" y="6402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606" b="-506605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88000" cy="687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s-CO" sz="1950" b="1">
                  <a:solidFill>
                    <a:srgbClr val="39A9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SOLUCIÓN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960" y="987552"/>
            <a:ext cx="16184699" cy="1165946"/>
            <a:chOff x="0" y="0"/>
            <a:chExt cx="21579599" cy="15545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474" b="-22047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s-CO" sz="5400" b="1">
                  <a:solidFill>
                    <a:srgbClr val="38AA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Módulos del sistema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2960" y="2414301"/>
            <a:ext cx="15910646" cy="2372688"/>
            <a:chOff x="0" y="0"/>
            <a:chExt cx="21214194" cy="31635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14200" cy="3163569"/>
            </a:xfrm>
            <a:custGeom>
              <a:avLst/>
              <a:gdLst/>
              <a:ahLst/>
              <a:cxnLst/>
              <a:rect l="l" t="t" r="r" b="b"/>
              <a:pathLst>
                <a:path w="21214200" h="3163569">
                  <a:moveTo>
                    <a:pt x="0" y="0"/>
                  </a:moveTo>
                  <a:lnTo>
                    <a:pt x="21214200" y="0"/>
                  </a:lnTo>
                  <a:lnTo>
                    <a:pt x="21214200" y="3163569"/>
                  </a:lnTo>
                  <a:lnTo>
                    <a:pt x="0" y="31635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1876" b="-4944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1214194" cy="321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s-CO" sz="2100">
                  <a:solidFill>
                    <a:srgbClr val="2229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solución se organiza en módulos independientes, con acceso por roles de Administrador y Cliente, que cubren todo el ciclo de venta: del registro de productos a la factura y los reportes.</a:t>
              </a:r>
            </a:p>
            <a:p>
              <a:pPr algn="l">
                <a:lnSpc>
                  <a:spcPts val="2520"/>
                </a:lnSpc>
              </a:pPr>
              <a:endParaRPr lang="es-CO" sz="2100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520"/>
                </a:lnSpc>
              </a:pPr>
              <a:endParaRPr lang="es-CO" sz="2100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520"/>
                </a:lnSpc>
              </a:pPr>
              <a:endParaRPr lang="es-CO" sz="2100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520"/>
                </a:lnSpc>
              </a:pPr>
              <a:endParaRPr lang="es-CO" sz="2100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520"/>
                </a:lnSpc>
              </a:pPr>
              <a:endParaRPr lang="es-CO" sz="2100">
                <a:solidFill>
                  <a:srgbClr val="2229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2960" y="3634740"/>
            <a:ext cx="5239350" cy="2537546"/>
            <a:chOff x="0" y="0"/>
            <a:chExt cx="6985800" cy="33833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3017520" y="3936492"/>
            <a:ext cx="850497" cy="850497"/>
            <a:chOff x="0" y="0"/>
            <a:chExt cx="1133996" cy="11339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238624" y="4157596"/>
            <a:ext cx="408184" cy="408184"/>
            <a:chOff x="0" y="0"/>
            <a:chExt cx="544246" cy="544246"/>
          </a:xfrm>
        </p:grpSpPr>
        <p:sp>
          <p:nvSpPr>
            <p:cNvPr id="17" name="Freeform 17" descr="icons/cogs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9" b="-9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028700" y="4978908"/>
            <a:ext cx="4828051" cy="480146"/>
            <a:chOff x="0" y="0"/>
            <a:chExt cx="6437401" cy="6401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5445252"/>
            <a:ext cx="4828051" cy="685800"/>
            <a:chOff x="0" y="0"/>
            <a:chExt cx="6437401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Roles de Administrador y Cliente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501384" y="3634740"/>
            <a:ext cx="5239350" cy="2537546"/>
            <a:chOff x="0" y="0"/>
            <a:chExt cx="6985800" cy="33833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8695944" y="3936492"/>
            <a:ext cx="850497" cy="850497"/>
            <a:chOff x="0" y="0"/>
            <a:chExt cx="1133996" cy="11339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8917048" y="4157596"/>
            <a:ext cx="408184" cy="408184"/>
            <a:chOff x="0" y="0"/>
            <a:chExt cx="544246" cy="544246"/>
          </a:xfrm>
        </p:grpSpPr>
        <p:sp>
          <p:nvSpPr>
            <p:cNvPr id="29" name="Freeform 29" descr="icons/check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9" b="-9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6707124" y="4978908"/>
            <a:ext cx="4828051" cy="480146"/>
            <a:chOff x="0" y="0"/>
            <a:chExt cx="6437401" cy="64019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Productos e inventario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07124" y="5445252"/>
            <a:ext cx="4828051" cy="685800"/>
            <a:chOff x="0" y="0"/>
            <a:chExt cx="6437401" cy="914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Categorías, stock, vencimientos y alertas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79808" y="3634740"/>
            <a:ext cx="5239350" cy="2537546"/>
            <a:chOff x="0" y="0"/>
            <a:chExt cx="6985800" cy="338339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4374368" y="3936492"/>
            <a:ext cx="850497" cy="850497"/>
            <a:chOff x="0" y="0"/>
            <a:chExt cx="1133996" cy="113399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4595472" y="4157596"/>
            <a:ext cx="408184" cy="408184"/>
            <a:chOff x="0" y="0"/>
            <a:chExt cx="544246" cy="544246"/>
          </a:xfrm>
        </p:grpSpPr>
        <p:sp>
          <p:nvSpPr>
            <p:cNvPr id="41" name="Freeform 41" descr="icons/mobile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9" b="-9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2385548" y="4978908"/>
            <a:ext cx="4828051" cy="480146"/>
            <a:chOff x="0" y="0"/>
            <a:chExt cx="6437401" cy="64019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Ventas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385548" y="5445252"/>
            <a:ext cx="4828051" cy="685800"/>
            <a:chOff x="0" y="0"/>
            <a:chExt cx="6437401" cy="914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de ventas y factura en PDF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22960" y="6556248"/>
            <a:ext cx="5239350" cy="2537546"/>
            <a:chOff x="0" y="0"/>
            <a:chExt cx="6985800" cy="338339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3017520" y="6858000"/>
            <a:ext cx="850497" cy="850497"/>
            <a:chOff x="0" y="0"/>
            <a:chExt cx="1133996" cy="113399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3238624" y="7079104"/>
            <a:ext cx="408184" cy="408184"/>
            <a:chOff x="0" y="0"/>
            <a:chExt cx="544246" cy="544246"/>
          </a:xfrm>
        </p:grpSpPr>
        <p:sp>
          <p:nvSpPr>
            <p:cNvPr id="53" name="Freeform 53" descr="icons/leaf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9" b="-9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1028700" y="7900416"/>
            <a:ext cx="4828051" cy="480146"/>
            <a:chOff x="0" y="0"/>
            <a:chExt cx="6437401" cy="64019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Clientes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28700" y="8366760"/>
            <a:ext cx="4828051" cy="685800"/>
            <a:chOff x="0" y="0"/>
            <a:chExt cx="6437401" cy="9144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Clientes y su historial de compras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501384" y="6556248"/>
            <a:ext cx="5239350" cy="2537546"/>
            <a:chOff x="0" y="0"/>
            <a:chExt cx="6985800" cy="338339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8695944" y="6858000"/>
            <a:ext cx="850497" cy="850497"/>
            <a:chOff x="0" y="0"/>
            <a:chExt cx="1133996" cy="11339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8917048" y="7079104"/>
            <a:ext cx="408184" cy="408184"/>
            <a:chOff x="0" y="0"/>
            <a:chExt cx="544246" cy="544246"/>
          </a:xfrm>
        </p:grpSpPr>
        <p:sp>
          <p:nvSpPr>
            <p:cNvPr id="65" name="Freeform 65" descr="icons/chart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9" b="-9"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6707124" y="7900416"/>
            <a:ext cx="4828051" cy="480146"/>
            <a:chOff x="0" y="0"/>
            <a:chExt cx="6437401" cy="64019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Reportes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707124" y="8366760"/>
            <a:ext cx="4828051" cy="685800"/>
            <a:chOff x="0" y="0"/>
            <a:chExt cx="6437401" cy="9144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Ventas por período y más vendidos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179808" y="6556248"/>
            <a:ext cx="5239350" cy="2537546"/>
            <a:chOff x="0" y="0"/>
            <a:chExt cx="6985800" cy="338339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985762" cy="3383407"/>
            </a:xfrm>
            <a:custGeom>
              <a:avLst/>
              <a:gdLst/>
              <a:ahLst/>
              <a:cxnLst/>
              <a:rect l="l" t="t" r="r" b="b"/>
              <a:pathLst>
                <a:path w="6985762" h="33834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39458" y="0"/>
                  </a:lnTo>
                  <a:cubicBezTo>
                    <a:pt x="6920230" y="0"/>
                    <a:pt x="6985762" y="65532"/>
                    <a:pt x="6985762" y="146304"/>
                  </a:cubicBezTo>
                  <a:lnTo>
                    <a:pt x="6985762" y="3237103"/>
                  </a:lnTo>
                  <a:cubicBezTo>
                    <a:pt x="6985762" y="3317875"/>
                    <a:pt x="6920230" y="3383407"/>
                    <a:pt x="6839458" y="3383407"/>
                  </a:cubicBezTo>
                  <a:lnTo>
                    <a:pt x="146304" y="3383407"/>
                  </a:lnTo>
                  <a:cubicBezTo>
                    <a:pt x="65532" y="3383407"/>
                    <a:pt x="0" y="3317875"/>
                    <a:pt x="0" y="3237103"/>
                  </a:cubicBezTo>
                  <a:close/>
                </a:path>
              </a:pathLst>
            </a:custGeom>
            <a:solidFill>
              <a:srgbClr val="EDF6E8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4374368" y="6858000"/>
            <a:ext cx="850497" cy="850497"/>
            <a:chOff x="0" y="0"/>
            <a:chExt cx="1133996" cy="113399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133983" cy="1133983"/>
            </a:xfrm>
            <a:custGeom>
              <a:avLst/>
              <a:gdLst/>
              <a:ahLst/>
              <a:cxn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39A900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14595472" y="7079104"/>
            <a:ext cx="408184" cy="408184"/>
            <a:chOff x="0" y="0"/>
            <a:chExt cx="544246" cy="544246"/>
          </a:xfrm>
        </p:grpSpPr>
        <p:sp>
          <p:nvSpPr>
            <p:cNvPr id="77" name="Freeform 77" descr="icons/shield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9"/>
              </a:stretch>
            </a:blipFill>
          </p:spPr>
        </p:sp>
      </p:grpSp>
      <p:grpSp>
        <p:nvGrpSpPr>
          <p:cNvPr id="78" name="Group 78"/>
          <p:cNvGrpSpPr/>
          <p:nvPr/>
        </p:nvGrpSpPr>
        <p:grpSpPr>
          <a:xfrm>
            <a:off x="12385548" y="7900416"/>
            <a:ext cx="4828051" cy="480146"/>
            <a:chOff x="0" y="0"/>
            <a:chExt cx="6437401" cy="64019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928" b="-145927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s-CO" sz="1950" b="1">
                  <a:solidFill>
                    <a:srgbClr val="0030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Pedidos en línea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385548" y="8366760"/>
            <a:ext cx="4828051" cy="685800"/>
            <a:chOff x="0" y="0"/>
            <a:chExt cx="6437401" cy="9144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75" b="-87175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s-CO" sz="1575">
                  <a:solidFill>
                    <a:srgbClr val="5B66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Carrito, entrega, pago y seguimiento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657</Words>
  <Application>Microsoft Office PowerPoint</Application>
  <PresentationFormat>Personalizado</PresentationFormat>
  <Paragraphs>112</Paragraphs>
  <Slides>14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Calibri (MS)</vt:lpstr>
      <vt:lpstr>Arial</vt:lpstr>
      <vt:lpstr>Arial Bold</vt:lpstr>
      <vt:lpstr>Calibri</vt:lpstr>
      <vt:lpstr>Work Sans Bold</vt:lpstr>
      <vt:lpstr>Calibri (MS)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MSS.pptx</dc:title>
  <cp:lastModifiedBy>Maria Del Pilar	 Bonilla Moreno</cp:lastModifiedBy>
  <cp:revision>4</cp:revision>
  <dcterms:created xsi:type="dcterms:W3CDTF">2006-08-16T00:00:00Z</dcterms:created>
  <dcterms:modified xsi:type="dcterms:W3CDTF">2026-09-20T17:04:54Z</dcterms:modified>
  <dc:identifier>DAHVLpckKfQ</dc:identifier>
</cp:coreProperties>
</file>